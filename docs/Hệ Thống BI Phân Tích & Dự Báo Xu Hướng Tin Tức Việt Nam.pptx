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Plus Jakarta Sans"/>
      <p:italic r:id="rId18"/>
    </p:embeddedFont>
    <p:embeddedFont>
      <p:font typeface="Space Grotesk"/>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B2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762000" y="5629275"/>
            <a:ext cx="10668000" cy="6191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5629275"/>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429625" y="5900737"/>
            <a:ext cx="3000375" cy="314325"/>
          </a:xfrm>
          <a:prstGeom prst="roundRect">
            <a:avLst>
              <a:gd name="adj" fmla="val 18181"/>
            </a:avLst>
          </a:prstGeom>
          <a:solidFill>
            <a:srgbClr val="2026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762000" y="609600"/>
            <a:ext cx="342900" cy="342900"/>
          </a:xfrm>
          <a:prstGeom prst="rect">
            <a:avLst/>
          </a:prstGeom>
        </p:spPr>
      </p:pic>
      <p:pic>
        <p:nvPicPr>
          <p:cNvPr id="7" name="Picture 6" descr="image.png"/>
          <p:cNvPicPr>
            <a:picLocks noChangeAspect="1"/>
          </p:cNvPicPr>
          <p:nvPr/>
        </p:nvPicPr>
        <p:blipFill>
          <a:blip r:embed="rId4"/>
          <a:stretch>
            <a:fillRect/>
          </a:stretch>
        </p:blipFill>
        <p:spPr>
          <a:xfrm>
            <a:off x="847725" y="695325"/>
            <a:ext cx="171450" cy="171450"/>
          </a:xfrm>
          <a:prstGeom prst="rect">
            <a:avLst/>
          </a:prstGeom>
        </p:spPr>
      </p:pic>
      <p:pic>
        <p:nvPicPr>
          <p:cNvPr id="8" name="Picture 7" descr="image.png"/>
          <p:cNvPicPr>
            <a:picLocks noChangeAspect="1"/>
          </p:cNvPicPr>
          <p:nvPr/>
        </p:nvPicPr>
        <p:blipFill>
          <a:blip r:embed="rId5"/>
          <a:stretch>
            <a:fillRect/>
          </a:stretch>
        </p:blipFill>
        <p:spPr>
          <a:xfrm>
            <a:off x="8582025" y="5991225"/>
            <a:ext cx="133350" cy="133350"/>
          </a:xfrm>
          <a:prstGeom prst="rect">
            <a:avLst/>
          </a:prstGeom>
        </p:spPr>
      </p:pic>
      <p:sp>
        <p:nvSpPr>
          <p:cNvPr id="10" name="TextBox 9"/>
          <p:cNvSpPr txBox="1"/>
          <p:nvPr/>
        </p:nvSpPr>
        <p:spPr>
          <a:xfrm>
            <a:off x="762000" y="2536626"/>
            <a:ext cx="9101137" cy="1051321"/>
          </a:xfrm>
          <a:prstGeom prst="rect">
            <a:avLst/>
          </a:prstGeom>
          <a:noFill/>
        </p:spPr>
        <p:txBody>
          <a:bodyPr wrap="square" lIns="0" tIns="0" rIns="0" bIns="0" anchor="t">
            <a:spAutoFit/>
          </a:bodyPr>
          <a:lstStyle/>
          <a:p>
            <a:pPr algn="l">
              <a:lnSpc>
                <a:spcPts val="4140"/>
              </a:lnSpc>
            </a:pPr>
            <a:r>
              <a:rPr sz="3450" b="1" i="0" u="none">
                <a:solidFill>
                  <a:srgbClr val="FFFFFF"/>
                </a:solidFill>
                <a:latin typeface="Plus Jakarta Sans"/>
              </a:rPr>
              <a:t>Hệ Thống BI Phân Tích &amp; Dự Báo Xu Hướng Tin Tức Việt Nam</a:t>
            </a:r>
          </a:p>
        </p:txBody>
      </p:sp>
      <p:sp>
        <p:nvSpPr>
          <p:cNvPr id="11" name="TextBox 10"/>
          <p:cNvSpPr txBox="1"/>
          <p:nvPr/>
        </p:nvSpPr>
        <p:spPr>
          <a:xfrm>
            <a:off x="762000" y="3778448"/>
            <a:ext cx="10715625" cy="266700"/>
          </a:xfrm>
          <a:prstGeom prst="rect">
            <a:avLst/>
          </a:prstGeom>
          <a:noFill/>
        </p:spPr>
        <p:txBody>
          <a:bodyPr wrap="none" lIns="0" tIns="0" rIns="0" bIns="0" anchor="t">
            <a:spAutoFit/>
          </a:bodyPr>
          <a:lstStyle/>
          <a:p>
            <a:pPr algn="l">
              <a:lnSpc>
                <a:spcPts val="2100"/>
              </a:lnSpc>
            </a:pPr>
            <a:r>
              <a:rPr sz="1500" b="0" i="0" u="none">
                <a:solidFill>
                  <a:srgbClr val="94A3B8"/>
                </a:solidFill>
                <a:latin typeface="Space Grotesk"/>
              </a:rPr>
              <a:t>VIETNAM NEWS INTELLIGENCE • MODERN DATA ARCHITECTURE &amp; AI</a:t>
            </a:r>
          </a:p>
        </p:txBody>
      </p:sp>
      <p:sp>
        <p:nvSpPr>
          <p:cNvPr id="12" name="TextBox 11"/>
          <p:cNvSpPr txBox="1"/>
          <p:nvPr/>
        </p:nvSpPr>
        <p:spPr>
          <a:xfrm>
            <a:off x="8829675" y="5976937"/>
            <a:ext cx="3059906" cy="161925"/>
          </a:xfrm>
          <a:prstGeom prst="rect">
            <a:avLst/>
          </a:prstGeom>
          <a:noFill/>
        </p:spPr>
        <p:txBody>
          <a:bodyPr wrap="none" lIns="0" tIns="0" rIns="0" bIns="0" anchor="t">
            <a:spAutoFit/>
          </a:bodyPr>
          <a:lstStyle/>
          <a:p>
            <a:pPr algn="l"/>
            <a:r>
              <a:rPr sz="975" b="0" i="0" u="none">
                <a:solidFill>
                  <a:srgbClr val="CBD5E1"/>
                </a:solidFill>
                <a:latin typeface="Space Grotesk"/>
              </a:rPr>
              <a:t>Dual DB • NLP Ensemble • Gemini 1.5 Flash</a:t>
            </a:r>
          </a:p>
        </p:txBody>
      </p:sp>
      <p:sp>
        <p:nvSpPr>
          <p:cNvPr id="13" name="TextBox 12"/>
          <p:cNvSpPr txBox="1"/>
          <p:nvPr/>
        </p:nvSpPr>
        <p:spPr>
          <a:xfrm>
            <a:off x="762000" y="5867400"/>
            <a:ext cx="2405062" cy="142875"/>
          </a:xfrm>
          <a:prstGeom prst="rect">
            <a:avLst/>
          </a:prstGeom>
          <a:noFill/>
        </p:spPr>
        <p:txBody>
          <a:bodyPr wrap="none" lIns="0" tIns="0" rIns="0" bIns="0" anchor="t">
            <a:spAutoFit/>
          </a:bodyPr>
          <a:lstStyle/>
          <a:p>
            <a:pPr algn="l"/>
            <a:r>
              <a:rPr sz="900" b="1" i="0" u="none">
                <a:solidFill>
                  <a:srgbClr val="64748B"/>
                </a:solidFill>
                <a:latin typeface="Plus Jakarta Sans"/>
              </a:rPr>
              <a:t>NHÓM SINH VIÊN</a:t>
            </a:r>
          </a:p>
        </p:txBody>
      </p:sp>
      <p:sp>
        <p:nvSpPr>
          <p:cNvPr id="14" name="TextBox 13"/>
          <p:cNvSpPr txBox="1"/>
          <p:nvPr/>
        </p:nvSpPr>
        <p:spPr>
          <a:xfrm>
            <a:off x="762000" y="6017895"/>
            <a:ext cx="506549" cy="184666"/>
          </a:xfrm>
          <a:prstGeom prst="rect">
            <a:avLst/>
          </a:prstGeom>
          <a:noFill/>
        </p:spPr>
        <p:txBody>
          <a:bodyPr wrap="none" lIns="0" tIns="0" rIns="0" bIns="0" anchor="t">
            <a:spAutoFit/>
          </a:bodyPr>
          <a:lstStyle/>
          <a:p>
            <a:pPr algn="l"/>
            <a:r>
              <a:rPr sz="1200" b="1" i="0" u="none" dirty="0" err="1">
                <a:solidFill>
                  <a:srgbClr val="E2E8F0"/>
                </a:solidFill>
                <a:latin typeface="Plus Jakarta Sans"/>
              </a:rPr>
              <a:t>Nhóm</a:t>
            </a:r>
            <a:r>
              <a:rPr sz="1200" b="1" i="0" u="none" dirty="0">
                <a:solidFill>
                  <a:srgbClr val="E2E8F0"/>
                </a:solidFill>
                <a:latin typeface="Plus Jakarta Sans"/>
              </a:rPr>
              <a:t> 1</a:t>
            </a:r>
          </a:p>
        </p:txBody>
      </p:sp>
      <p:sp>
        <p:nvSpPr>
          <p:cNvPr id="15" name="TextBox 14"/>
          <p:cNvSpPr txBox="1"/>
          <p:nvPr/>
        </p:nvSpPr>
        <p:spPr>
          <a:xfrm>
            <a:off x="3067050" y="5867400"/>
            <a:ext cx="2738437" cy="142875"/>
          </a:xfrm>
          <a:prstGeom prst="rect">
            <a:avLst/>
          </a:prstGeom>
          <a:noFill/>
        </p:spPr>
        <p:txBody>
          <a:bodyPr wrap="none" lIns="0" tIns="0" rIns="0" bIns="0" anchor="t">
            <a:spAutoFit/>
          </a:bodyPr>
          <a:lstStyle/>
          <a:p>
            <a:pPr algn="l"/>
            <a:r>
              <a:rPr sz="900" b="1" i="0" u="none">
                <a:solidFill>
                  <a:srgbClr val="64748B"/>
                </a:solidFill>
                <a:latin typeface="Plus Jakarta Sans"/>
              </a:rPr>
              <a:t>GIẢNG VIÊN HƯỚNG DẪN</a:t>
            </a:r>
          </a:p>
        </p:txBody>
      </p:sp>
      <p:sp>
        <p:nvSpPr>
          <p:cNvPr id="16" name="TextBox 15"/>
          <p:cNvSpPr txBox="1"/>
          <p:nvPr/>
        </p:nvSpPr>
        <p:spPr>
          <a:xfrm>
            <a:off x="3067050" y="6048375"/>
            <a:ext cx="1033937" cy="184666"/>
          </a:xfrm>
          <a:prstGeom prst="rect">
            <a:avLst/>
          </a:prstGeom>
          <a:noFill/>
        </p:spPr>
        <p:txBody>
          <a:bodyPr wrap="none" lIns="0" tIns="0" rIns="0" bIns="0" anchor="t">
            <a:spAutoFit/>
          </a:bodyPr>
          <a:lstStyle/>
          <a:p>
            <a:pPr algn="l"/>
            <a:r>
              <a:rPr lang="en-US" sz="1200" b="1" i="0" u="none" dirty="0" err="1">
                <a:solidFill>
                  <a:srgbClr val="E2E8F0"/>
                </a:solidFill>
                <a:latin typeface="Plus Jakarta Sans"/>
              </a:rPr>
              <a:t>Đỗ</a:t>
            </a:r>
            <a:r>
              <a:rPr lang="en-US" sz="1200" b="1" i="0" u="none" dirty="0">
                <a:solidFill>
                  <a:srgbClr val="E2E8F0"/>
                </a:solidFill>
                <a:latin typeface="Plus Jakarta Sans"/>
              </a:rPr>
              <a:t> </a:t>
            </a:r>
            <a:r>
              <a:rPr lang="en-US" sz="1200" b="1" i="0" u="none" dirty="0" err="1">
                <a:solidFill>
                  <a:srgbClr val="E2E8F0"/>
                </a:solidFill>
                <a:latin typeface="Plus Jakarta Sans"/>
              </a:rPr>
              <a:t>Oanh</a:t>
            </a:r>
            <a:r>
              <a:rPr lang="en-US" sz="1200" b="1" i="0" u="none" dirty="0">
                <a:solidFill>
                  <a:srgbClr val="E2E8F0"/>
                </a:solidFill>
                <a:latin typeface="Plus Jakarta Sans"/>
              </a:rPr>
              <a:t> C</a:t>
            </a:r>
            <a:r>
              <a:rPr lang="vi-VN" sz="1200" b="1" i="0" u="none" dirty="0">
                <a:solidFill>
                  <a:srgbClr val="E2E8F0"/>
                </a:solidFill>
                <a:latin typeface="Plus Jakarta Sans"/>
              </a:rPr>
              <a:t>ư</a:t>
            </a:r>
            <a:r>
              <a:rPr lang="en-US" sz="1200" b="1" dirty="0" err="1">
                <a:solidFill>
                  <a:srgbClr val="E2E8F0"/>
                </a:solidFill>
                <a:latin typeface="Plus Jakarta Sans"/>
              </a:rPr>
              <a:t>ờng</a:t>
            </a:r>
            <a:endParaRPr sz="1200" b="1" i="0" u="none" dirty="0">
              <a:solidFill>
                <a:srgbClr val="E2E8F0"/>
              </a:solidFill>
              <a:latin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839491"/>
            <a:ext cx="5334000" cy="2011412"/>
          </a:xfrm>
          <a:prstGeom prst="roundRect">
            <a:avLst>
              <a:gd name="adj" fmla="val 5682"/>
            </a:avLst>
          </a:prstGeom>
          <a:solidFill>
            <a:srgbClr val="F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732782"/>
            <a:ext cx="5334000" cy="2224682"/>
          </a:xfrm>
          <a:prstGeom prst="roundRect">
            <a:avLst>
              <a:gd name="adj" fmla="val 5137"/>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2839491"/>
            <a:ext cx="38100" cy="201141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48400" y="2732782"/>
            <a:ext cx="38100" cy="222468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952500" y="3163341"/>
            <a:ext cx="228600" cy="228600"/>
          </a:xfrm>
          <a:prstGeom prst="rect">
            <a:avLst/>
          </a:prstGeom>
        </p:spPr>
      </p:pic>
      <p:pic>
        <p:nvPicPr>
          <p:cNvPr id="7" name="Picture 6" descr="image.png"/>
          <p:cNvPicPr>
            <a:picLocks noChangeAspect="1"/>
          </p:cNvPicPr>
          <p:nvPr/>
        </p:nvPicPr>
        <p:blipFill>
          <a:blip r:embed="rId3"/>
          <a:stretch>
            <a:fillRect/>
          </a:stretch>
        </p:blipFill>
        <p:spPr>
          <a:xfrm>
            <a:off x="6591300" y="3056632"/>
            <a:ext cx="228600" cy="228600"/>
          </a:xfrm>
          <a:prstGeom prst="rect">
            <a:avLst/>
          </a:prstGeom>
        </p:spPr>
      </p:pic>
      <p:pic>
        <p:nvPicPr>
          <p:cNvPr id="8" name="Picture 7" descr="image.png"/>
          <p:cNvPicPr>
            <a:picLocks noChangeAspect="1"/>
          </p:cNvPicPr>
          <p:nvPr/>
        </p:nvPicPr>
        <p:blipFill>
          <a:blip r:embed="rId4"/>
          <a:stretch>
            <a:fillRect/>
          </a:stretch>
        </p:blipFill>
        <p:spPr>
          <a:xfrm>
            <a:off x="952500" y="3649116"/>
            <a:ext cx="152400" cy="152400"/>
          </a:xfrm>
          <a:prstGeom prst="rect">
            <a:avLst/>
          </a:prstGeom>
        </p:spPr>
      </p:pic>
      <p:pic>
        <p:nvPicPr>
          <p:cNvPr id="9" name="Picture 8" descr="image.png"/>
          <p:cNvPicPr>
            <a:picLocks noChangeAspect="1"/>
          </p:cNvPicPr>
          <p:nvPr/>
        </p:nvPicPr>
        <p:blipFill>
          <a:blip r:embed="rId4"/>
          <a:stretch>
            <a:fillRect/>
          </a:stretch>
        </p:blipFill>
        <p:spPr>
          <a:xfrm>
            <a:off x="952500" y="4014787"/>
            <a:ext cx="152400" cy="152400"/>
          </a:xfrm>
          <a:prstGeom prst="rect">
            <a:avLst/>
          </a:prstGeom>
        </p:spPr>
      </p:pic>
      <p:pic>
        <p:nvPicPr>
          <p:cNvPr id="10" name="Picture 9" descr="image.png"/>
          <p:cNvPicPr>
            <a:picLocks noChangeAspect="1"/>
          </p:cNvPicPr>
          <p:nvPr/>
        </p:nvPicPr>
        <p:blipFill>
          <a:blip r:embed="rId4"/>
          <a:stretch>
            <a:fillRect/>
          </a:stretch>
        </p:blipFill>
        <p:spPr>
          <a:xfrm>
            <a:off x="952500" y="4380458"/>
            <a:ext cx="152400" cy="152400"/>
          </a:xfrm>
          <a:prstGeom prst="rect">
            <a:avLst/>
          </a:prstGeom>
        </p:spPr>
      </p:pic>
      <p:pic>
        <p:nvPicPr>
          <p:cNvPr id="11" name="Picture 10" descr="image.png"/>
          <p:cNvPicPr>
            <a:picLocks noChangeAspect="1"/>
          </p:cNvPicPr>
          <p:nvPr/>
        </p:nvPicPr>
        <p:blipFill>
          <a:blip r:embed="rId5"/>
          <a:stretch>
            <a:fillRect/>
          </a:stretch>
        </p:blipFill>
        <p:spPr>
          <a:xfrm>
            <a:off x="6591300" y="3542407"/>
            <a:ext cx="152400" cy="152400"/>
          </a:xfrm>
          <a:prstGeom prst="rect">
            <a:avLst/>
          </a:prstGeom>
        </p:spPr>
      </p:pic>
      <p:pic>
        <p:nvPicPr>
          <p:cNvPr id="12" name="Picture 11" descr="image.png"/>
          <p:cNvPicPr>
            <a:picLocks noChangeAspect="1"/>
          </p:cNvPicPr>
          <p:nvPr/>
        </p:nvPicPr>
        <p:blipFill>
          <a:blip r:embed="rId5"/>
          <a:stretch>
            <a:fillRect/>
          </a:stretch>
        </p:blipFill>
        <p:spPr>
          <a:xfrm>
            <a:off x="6591300" y="3908077"/>
            <a:ext cx="152400" cy="152400"/>
          </a:xfrm>
          <a:prstGeom prst="rect">
            <a:avLst/>
          </a:prstGeom>
        </p:spPr>
      </p:pic>
      <p:pic>
        <p:nvPicPr>
          <p:cNvPr id="13" name="Picture 12" descr="image.png"/>
          <p:cNvPicPr>
            <a:picLocks noChangeAspect="1"/>
          </p:cNvPicPr>
          <p:nvPr/>
        </p:nvPicPr>
        <p:blipFill>
          <a:blip r:embed="rId5"/>
          <a:stretch>
            <a:fillRect/>
          </a:stretch>
        </p:blipFill>
        <p:spPr>
          <a:xfrm>
            <a:off x="6591300" y="4273748"/>
            <a:ext cx="152400" cy="152400"/>
          </a:xfrm>
          <a:prstGeom prst="rect">
            <a:avLst/>
          </a:prstGeom>
        </p:spPr>
      </p:pic>
      <p:sp>
        <p:nvSpPr>
          <p:cNvPr id="14" name="TextBox 13"/>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BỐI CẢNH &amp; GIẢI PHÁP</a:t>
            </a:r>
          </a:p>
        </p:txBody>
      </p:sp>
      <p:sp>
        <p:nvSpPr>
          <p:cNvPr id="15" name="TextBox 14"/>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Bài Toán Thực Tiễn &amp; Giải Pháp Cung Cấp</a:t>
            </a:r>
          </a:p>
        </p:txBody>
      </p:sp>
      <p:sp>
        <p:nvSpPr>
          <p:cNvPr id="16" name="TextBox 15"/>
          <p:cNvSpPr txBox="1"/>
          <p:nvPr/>
        </p:nvSpPr>
        <p:spPr>
          <a:xfrm>
            <a:off x="1295400" y="3144291"/>
            <a:ext cx="2600325" cy="266700"/>
          </a:xfrm>
          <a:prstGeom prst="rect">
            <a:avLst/>
          </a:prstGeom>
          <a:noFill/>
        </p:spPr>
        <p:txBody>
          <a:bodyPr wrap="none" lIns="0" tIns="0" rIns="0" bIns="0" anchor="t">
            <a:spAutoFit/>
          </a:bodyPr>
          <a:lstStyle/>
          <a:p>
            <a:pPr algn="l"/>
            <a:r>
              <a:rPr sz="1650" b="1" i="0" u="none">
                <a:solidFill>
                  <a:srgbClr val="991B1B"/>
                </a:solidFill>
                <a:latin typeface="Plus Jakarta Sans"/>
              </a:rPr>
              <a:t>Thách Thức Hiện Tại</a:t>
            </a:r>
          </a:p>
        </p:txBody>
      </p:sp>
      <p:sp>
        <p:nvSpPr>
          <p:cNvPr id="17" name="TextBox 16"/>
          <p:cNvSpPr txBox="1"/>
          <p:nvPr/>
        </p:nvSpPr>
        <p:spPr>
          <a:xfrm>
            <a:off x="1219200" y="3601491"/>
            <a:ext cx="5591175" cy="213270"/>
          </a:xfrm>
          <a:prstGeom prst="rect">
            <a:avLst/>
          </a:prstGeom>
          <a:noFill/>
        </p:spPr>
        <p:txBody>
          <a:bodyPr wrap="none" lIns="0" tIns="0" rIns="0" bIns="0" anchor="t">
            <a:spAutoFit/>
          </a:bodyPr>
          <a:lstStyle/>
          <a:p>
            <a:pPr algn="l"/>
            <a:r>
              <a:rPr sz="1200" b="1" i="0" u="none">
                <a:solidFill>
                  <a:srgbClr val="374151"/>
                </a:solidFill>
                <a:latin typeface="Plus Jakarta Sans"/>
              </a:rPr>
              <a:t>Quá tải thông tin: Hàng nghìn bản tin phi cấu trúc mỗi ngày.</a:t>
            </a:r>
          </a:p>
        </p:txBody>
      </p:sp>
      <p:sp>
        <p:nvSpPr>
          <p:cNvPr id="18" name="TextBox 17"/>
          <p:cNvSpPr txBox="1"/>
          <p:nvPr/>
        </p:nvSpPr>
        <p:spPr>
          <a:xfrm>
            <a:off x="1219200" y="3967162"/>
            <a:ext cx="5591175" cy="213270"/>
          </a:xfrm>
          <a:prstGeom prst="rect">
            <a:avLst/>
          </a:prstGeom>
          <a:noFill/>
        </p:spPr>
        <p:txBody>
          <a:bodyPr wrap="none" lIns="0" tIns="0" rIns="0" bIns="0" anchor="t">
            <a:spAutoFit/>
          </a:bodyPr>
          <a:lstStyle/>
          <a:p>
            <a:pPr algn="l"/>
            <a:r>
              <a:rPr sz="1200" b="1" i="0" u="none">
                <a:solidFill>
                  <a:srgbClr val="374151"/>
                </a:solidFill>
                <a:latin typeface="Plus Jakarta Sans"/>
              </a:rPr>
              <a:t>Thiếu số liệu đo lường: Khó lượng hóa sắc thái truyền thông.</a:t>
            </a:r>
          </a:p>
        </p:txBody>
      </p:sp>
      <p:sp>
        <p:nvSpPr>
          <p:cNvPr id="19" name="TextBox 18"/>
          <p:cNvSpPr txBox="1"/>
          <p:nvPr/>
        </p:nvSpPr>
        <p:spPr>
          <a:xfrm>
            <a:off x="1219200" y="4332833"/>
            <a:ext cx="5591175" cy="213270"/>
          </a:xfrm>
          <a:prstGeom prst="rect">
            <a:avLst/>
          </a:prstGeom>
          <a:noFill/>
        </p:spPr>
        <p:txBody>
          <a:bodyPr wrap="none" lIns="0" tIns="0" rIns="0" bIns="0" anchor="t">
            <a:spAutoFit/>
          </a:bodyPr>
          <a:lstStyle/>
          <a:p>
            <a:pPr algn="l"/>
            <a:r>
              <a:rPr sz="1200" b="1" i="0" u="none">
                <a:solidFill>
                  <a:srgbClr val="374151"/>
                </a:solidFill>
                <a:latin typeface="Plus Jakarta Sans"/>
              </a:rPr>
              <a:t>Không có dự phóng: Thiếu công cụ cảnh báo làn sóng tin tức.</a:t>
            </a:r>
          </a:p>
        </p:txBody>
      </p:sp>
      <p:sp>
        <p:nvSpPr>
          <p:cNvPr id="20" name="TextBox 19"/>
          <p:cNvSpPr txBox="1"/>
          <p:nvPr/>
        </p:nvSpPr>
        <p:spPr>
          <a:xfrm>
            <a:off x="6934200" y="3037582"/>
            <a:ext cx="2500312" cy="266700"/>
          </a:xfrm>
          <a:prstGeom prst="rect">
            <a:avLst/>
          </a:prstGeom>
          <a:noFill/>
        </p:spPr>
        <p:txBody>
          <a:bodyPr wrap="none" lIns="0" tIns="0" rIns="0" bIns="0" anchor="t">
            <a:spAutoFit/>
          </a:bodyPr>
          <a:lstStyle/>
          <a:p>
            <a:pPr algn="l"/>
            <a:r>
              <a:rPr sz="1650" b="1" i="0" u="none">
                <a:solidFill>
                  <a:srgbClr val="166534"/>
                </a:solidFill>
                <a:latin typeface="Plus Jakarta Sans"/>
              </a:rPr>
              <a:t>Mục Tiêu Giải Pháp</a:t>
            </a:r>
          </a:p>
        </p:txBody>
      </p:sp>
      <p:sp>
        <p:nvSpPr>
          <p:cNvPr id="21" name="TextBox 20"/>
          <p:cNvSpPr txBox="1"/>
          <p:nvPr/>
        </p:nvSpPr>
        <p:spPr>
          <a:xfrm>
            <a:off x="6858000" y="3494782"/>
            <a:ext cx="5334000" cy="213270"/>
          </a:xfrm>
          <a:prstGeom prst="rect">
            <a:avLst/>
          </a:prstGeom>
          <a:noFill/>
        </p:spPr>
        <p:txBody>
          <a:bodyPr wrap="none" lIns="0" tIns="0" rIns="0" bIns="0" anchor="t">
            <a:spAutoFit/>
          </a:bodyPr>
          <a:lstStyle/>
          <a:p>
            <a:pPr algn="l"/>
            <a:r>
              <a:rPr sz="1200" b="1" i="0" u="none">
                <a:solidFill>
                  <a:srgbClr val="374151"/>
                </a:solidFill>
                <a:latin typeface="Plus Jakarta Sans"/>
              </a:rPr>
              <a:t>ETL tự động: Pipeline thu thập và chuẩn hóa dữ liệu liên tục.</a:t>
            </a:r>
          </a:p>
        </p:txBody>
      </p:sp>
      <p:sp>
        <p:nvSpPr>
          <p:cNvPr id="22" name="TextBox 21"/>
          <p:cNvSpPr txBox="1"/>
          <p:nvPr/>
        </p:nvSpPr>
        <p:spPr>
          <a:xfrm>
            <a:off x="6858000" y="3860452"/>
            <a:ext cx="5334000" cy="213270"/>
          </a:xfrm>
          <a:prstGeom prst="rect">
            <a:avLst/>
          </a:prstGeom>
          <a:noFill/>
        </p:spPr>
        <p:txBody>
          <a:bodyPr wrap="none" lIns="0" tIns="0" rIns="0" bIns="0" anchor="t">
            <a:spAutoFit/>
          </a:bodyPr>
          <a:lstStyle/>
          <a:p>
            <a:pPr algn="l"/>
            <a:r>
              <a:rPr sz="1200" b="1" i="0" u="none">
                <a:solidFill>
                  <a:srgbClr val="374151"/>
                </a:solidFill>
                <a:latin typeface="Plus Jakarta Sans"/>
              </a:rPr>
              <a:t>Làm giàu bằng AI: Phân tích sắc thái và Gemini 1.5 tóm tắt.</a:t>
            </a:r>
          </a:p>
        </p:txBody>
      </p:sp>
      <p:sp>
        <p:nvSpPr>
          <p:cNvPr id="23" name="TextBox 22"/>
          <p:cNvSpPr txBox="1"/>
          <p:nvPr/>
        </p:nvSpPr>
        <p:spPr>
          <a:xfrm>
            <a:off x="6858000" y="4226123"/>
            <a:ext cx="4514850" cy="426541"/>
          </a:xfrm>
          <a:prstGeom prst="rect">
            <a:avLst/>
          </a:prstGeom>
          <a:noFill/>
        </p:spPr>
        <p:txBody>
          <a:bodyPr wrap="square" lIns="0" tIns="0" rIns="0" bIns="0" anchor="t">
            <a:spAutoFit/>
          </a:bodyPr>
          <a:lstStyle/>
          <a:p>
            <a:pPr algn="l"/>
            <a:r>
              <a:rPr sz="1200" b="1" i="0" u="none">
                <a:solidFill>
                  <a:srgbClr val="374151"/>
                </a:solidFill>
                <a:latin typeface="Plus Jakarta Sans"/>
              </a:rPr>
              <a:t>Quyết định tức thời: Dashboard BI trực quan trên Apache Superset.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4435673"/>
            <a:ext cx="10972800" cy="571500"/>
          </a:xfrm>
          <a:prstGeom prst="roundRect">
            <a:avLst>
              <a:gd name="adj" fmla="val 2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683073"/>
            <a:ext cx="2386012" cy="14859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71862" y="2683073"/>
            <a:ext cx="2386012" cy="14859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334125" y="2683073"/>
            <a:ext cx="2386012" cy="14859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96387" y="2683073"/>
            <a:ext cx="2386012" cy="14859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96050" y="4607123"/>
            <a:ext cx="9525" cy="2286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3148012" y="3330773"/>
            <a:ext cx="171450" cy="190500"/>
          </a:xfrm>
          <a:prstGeom prst="rect">
            <a:avLst/>
          </a:prstGeom>
        </p:spPr>
      </p:pic>
      <p:pic>
        <p:nvPicPr>
          <p:cNvPr id="9" name="Picture 8" descr="image.png"/>
          <p:cNvPicPr>
            <a:picLocks noChangeAspect="1"/>
          </p:cNvPicPr>
          <p:nvPr/>
        </p:nvPicPr>
        <p:blipFill>
          <a:blip r:embed="rId3"/>
          <a:stretch>
            <a:fillRect/>
          </a:stretch>
        </p:blipFill>
        <p:spPr>
          <a:xfrm>
            <a:off x="6010275" y="3330773"/>
            <a:ext cx="171450" cy="190500"/>
          </a:xfrm>
          <a:prstGeom prst="rect">
            <a:avLst/>
          </a:prstGeom>
        </p:spPr>
      </p:pic>
      <p:pic>
        <p:nvPicPr>
          <p:cNvPr id="10" name="Picture 9" descr="image.png"/>
          <p:cNvPicPr>
            <a:picLocks noChangeAspect="1"/>
          </p:cNvPicPr>
          <p:nvPr/>
        </p:nvPicPr>
        <p:blipFill>
          <a:blip r:embed="rId2"/>
          <a:stretch>
            <a:fillRect/>
          </a:stretch>
        </p:blipFill>
        <p:spPr>
          <a:xfrm>
            <a:off x="8872537" y="3330773"/>
            <a:ext cx="171450" cy="190500"/>
          </a:xfrm>
          <a:prstGeom prst="rect">
            <a:avLst/>
          </a:prstGeom>
        </p:spPr>
      </p:pic>
      <p:pic>
        <p:nvPicPr>
          <p:cNvPr id="11" name="Picture 10" descr="image.png"/>
          <p:cNvPicPr>
            <a:picLocks noChangeAspect="1"/>
          </p:cNvPicPr>
          <p:nvPr/>
        </p:nvPicPr>
        <p:blipFill>
          <a:blip r:embed="rId4"/>
          <a:stretch>
            <a:fillRect/>
          </a:stretch>
        </p:blipFill>
        <p:spPr>
          <a:xfrm>
            <a:off x="1574006" y="2921198"/>
            <a:ext cx="457200" cy="457200"/>
          </a:xfrm>
          <a:prstGeom prst="rect">
            <a:avLst/>
          </a:prstGeom>
        </p:spPr>
      </p:pic>
      <p:pic>
        <p:nvPicPr>
          <p:cNvPr id="12" name="Picture 11" descr="image.png"/>
          <p:cNvPicPr>
            <a:picLocks noChangeAspect="1"/>
          </p:cNvPicPr>
          <p:nvPr/>
        </p:nvPicPr>
        <p:blipFill>
          <a:blip r:embed="rId5"/>
          <a:stretch>
            <a:fillRect/>
          </a:stretch>
        </p:blipFill>
        <p:spPr>
          <a:xfrm>
            <a:off x="4436268" y="2921198"/>
            <a:ext cx="457200" cy="457200"/>
          </a:xfrm>
          <a:prstGeom prst="rect">
            <a:avLst/>
          </a:prstGeom>
        </p:spPr>
      </p:pic>
      <p:pic>
        <p:nvPicPr>
          <p:cNvPr id="13" name="Picture 12" descr="image.png"/>
          <p:cNvPicPr>
            <a:picLocks noChangeAspect="1"/>
          </p:cNvPicPr>
          <p:nvPr/>
        </p:nvPicPr>
        <p:blipFill>
          <a:blip r:embed="rId6"/>
          <a:stretch>
            <a:fillRect/>
          </a:stretch>
        </p:blipFill>
        <p:spPr>
          <a:xfrm>
            <a:off x="7298531" y="2921198"/>
            <a:ext cx="457200" cy="457200"/>
          </a:xfrm>
          <a:prstGeom prst="rect">
            <a:avLst/>
          </a:prstGeom>
        </p:spPr>
      </p:pic>
      <p:pic>
        <p:nvPicPr>
          <p:cNvPr id="14" name="Picture 13" descr="image.png"/>
          <p:cNvPicPr>
            <a:picLocks noChangeAspect="1"/>
          </p:cNvPicPr>
          <p:nvPr/>
        </p:nvPicPr>
        <p:blipFill>
          <a:blip r:embed="rId7"/>
          <a:stretch>
            <a:fillRect/>
          </a:stretch>
        </p:blipFill>
        <p:spPr>
          <a:xfrm>
            <a:off x="10160793" y="2921198"/>
            <a:ext cx="457200" cy="457200"/>
          </a:xfrm>
          <a:prstGeom prst="rect">
            <a:avLst/>
          </a:prstGeom>
        </p:spPr>
      </p:pic>
      <p:pic>
        <p:nvPicPr>
          <p:cNvPr id="15" name="Picture 14" descr="image.png"/>
          <p:cNvPicPr>
            <a:picLocks noChangeAspect="1"/>
          </p:cNvPicPr>
          <p:nvPr/>
        </p:nvPicPr>
        <p:blipFill>
          <a:blip r:embed="rId8"/>
          <a:stretch>
            <a:fillRect/>
          </a:stretch>
        </p:blipFill>
        <p:spPr>
          <a:xfrm>
            <a:off x="1162050" y="4635698"/>
            <a:ext cx="190500" cy="171450"/>
          </a:xfrm>
          <a:prstGeom prst="rect">
            <a:avLst/>
          </a:prstGeom>
        </p:spPr>
      </p:pic>
      <p:pic>
        <p:nvPicPr>
          <p:cNvPr id="16" name="Picture 15" descr="image.png"/>
          <p:cNvPicPr>
            <a:picLocks noChangeAspect="1"/>
          </p:cNvPicPr>
          <p:nvPr/>
        </p:nvPicPr>
        <p:blipFill>
          <a:blip r:embed="rId9"/>
          <a:stretch>
            <a:fillRect/>
          </a:stretch>
        </p:blipFill>
        <p:spPr>
          <a:xfrm>
            <a:off x="7153275" y="4635698"/>
            <a:ext cx="171450" cy="171450"/>
          </a:xfrm>
          <a:prstGeom prst="rect">
            <a:avLst/>
          </a:prstGeom>
        </p:spPr>
      </p:pic>
      <p:pic>
        <p:nvPicPr>
          <p:cNvPr id="17" name="Picture 16" descr="image.png"/>
          <p:cNvPicPr>
            <a:picLocks noChangeAspect="1"/>
          </p:cNvPicPr>
          <p:nvPr/>
        </p:nvPicPr>
        <p:blipFill>
          <a:blip r:embed="rId10"/>
          <a:stretch>
            <a:fillRect/>
          </a:stretch>
        </p:blipFill>
        <p:spPr>
          <a:xfrm>
            <a:off x="1707356" y="3054548"/>
            <a:ext cx="190500" cy="190500"/>
          </a:xfrm>
          <a:prstGeom prst="rect">
            <a:avLst/>
          </a:prstGeom>
        </p:spPr>
      </p:pic>
      <p:pic>
        <p:nvPicPr>
          <p:cNvPr id="18" name="Picture 17" descr="image.png"/>
          <p:cNvPicPr>
            <a:picLocks noChangeAspect="1"/>
          </p:cNvPicPr>
          <p:nvPr/>
        </p:nvPicPr>
        <p:blipFill>
          <a:blip r:embed="rId11"/>
          <a:stretch>
            <a:fillRect/>
          </a:stretch>
        </p:blipFill>
        <p:spPr>
          <a:xfrm>
            <a:off x="4579143" y="3054548"/>
            <a:ext cx="171450" cy="190500"/>
          </a:xfrm>
          <a:prstGeom prst="rect">
            <a:avLst/>
          </a:prstGeom>
        </p:spPr>
      </p:pic>
      <p:pic>
        <p:nvPicPr>
          <p:cNvPr id="19" name="Picture 18" descr="image.png"/>
          <p:cNvPicPr>
            <a:picLocks noChangeAspect="1"/>
          </p:cNvPicPr>
          <p:nvPr/>
        </p:nvPicPr>
        <p:blipFill>
          <a:blip r:embed="rId12"/>
          <a:stretch>
            <a:fillRect/>
          </a:stretch>
        </p:blipFill>
        <p:spPr>
          <a:xfrm>
            <a:off x="7441406" y="3054548"/>
            <a:ext cx="171450" cy="190500"/>
          </a:xfrm>
          <a:prstGeom prst="rect">
            <a:avLst/>
          </a:prstGeom>
        </p:spPr>
      </p:pic>
      <p:pic>
        <p:nvPicPr>
          <p:cNvPr id="20" name="Picture 19" descr="image.png"/>
          <p:cNvPicPr>
            <a:picLocks noChangeAspect="1"/>
          </p:cNvPicPr>
          <p:nvPr/>
        </p:nvPicPr>
        <p:blipFill>
          <a:blip r:embed="rId13"/>
          <a:stretch>
            <a:fillRect/>
          </a:stretch>
        </p:blipFill>
        <p:spPr>
          <a:xfrm>
            <a:off x="10279856" y="3054548"/>
            <a:ext cx="219075" cy="190500"/>
          </a:xfrm>
          <a:prstGeom prst="rect">
            <a:avLst/>
          </a:prstGeom>
        </p:spPr>
      </p:pic>
      <p:sp>
        <p:nvSpPr>
          <p:cNvPr id="21" name="TextBox 20"/>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SYSTEM ARCHITECTURE</a:t>
            </a:r>
          </a:p>
        </p:txBody>
      </p:sp>
      <p:sp>
        <p:nvSpPr>
          <p:cNvPr id="22" name="TextBox 21"/>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Kiến Trúc Dữ Liệu Phân Tầng End-to-End</a:t>
            </a:r>
          </a:p>
        </p:txBody>
      </p:sp>
      <p:sp>
        <p:nvSpPr>
          <p:cNvPr id="23" name="TextBox 22"/>
          <p:cNvSpPr txBox="1"/>
          <p:nvPr/>
        </p:nvSpPr>
        <p:spPr>
          <a:xfrm>
            <a:off x="549324" y="3492698"/>
            <a:ext cx="2506563" cy="209550"/>
          </a:xfrm>
          <a:prstGeom prst="rect">
            <a:avLst/>
          </a:prstGeom>
          <a:noFill/>
        </p:spPr>
        <p:txBody>
          <a:bodyPr wrap="none" lIns="0" tIns="0" rIns="0" bIns="0" anchor="t">
            <a:spAutoFit/>
          </a:bodyPr>
          <a:lstStyle/>
          <a:p>
            <a:pPr algn="ctr"/>
            <a:r>
              <a:rPr sz="1275" b="1" i="0" u="none">
                <a:solidFill>
                  <a:srgbClr val="0F172A"/>
                </a:solidFill>
                <a:latin typeface="Plus Jakarta Sans"/>
              </a:rPr>
              <a:t>Tầng Nguồn Cấp</a:t>
            </a:r>
          </a:p>
        </p:txBody>
      </p:sp>
      <p:sp>
        <p:nvSpPr>
          <p:cNvPr id="24" name="TextBox 23"/>
          <p:cNvSpPr txBox="1"/>
          <p:nvPr/>
        </p:nvSpPr>
        <p:spPr>
          <a:xfrm>
            <a:off x="609004" y="3759398"/>
            <a:ext cx="2387203" cy="171450"/>
          </a:xfrm>
          <a:prstGeom prst="rect">
            <a:avLst/>
          </a:prstGeom>
          <a:noFill/>
        </p:spPr>
        <p:txBody>
          <a:bodyPr wrap="none" lIns="0" tIns="0" rIns="0" bIns="0" anchor="t">
            <a:spAutoFit/>
          </a:bodyPr>
          <a:lstStyle/>
          <a:p>
            <a:pPr algn="ctr"/>
            <a:r>
              <a:rPr sz="1050" b="0" i="0" u="none">
                <a:solidFill>
                  <a:srgbClr val="64748B"/>
                </a:solidFill>
                <a:latin typeface="Plus Jakarta Sans"/>
              </a:rPr>
              <a:t>NewsAPI REST Endpoints</a:t>
            </a:r>
          </a:p>
        </p:txBody>
      </p:sp>
      <p:sp>
        <p:nvSpPr>
          <p:cNvPr id="25" name="TextBox 24"/>
          <p:cNvSpPr txBox="1"/>
          <p:nvPr/>
        </p:nvSpPr>
        <p:spPr>
          <a:xfrm>
            <a:off x="3411587" y="3492698"/>
            <a:ext cx="2506563" cy="209550"/>
          </a:xfrm>
          <a:prstGeom prst="rect">
            <a:avLst/>
          </a:prstGeom>
          <a:noFill/>
        </p:spPr>
        <p:txBody>
          <a:bodyPr wrap="none" lIns="0" tIns="0" rIns="0" bIns="0" anchor="t">
            <a:spAutoFit/>
          </a:bodyPr>
          <a:lstStyle/>
          <a:p>
            <a:pPr algn="ctr"/>
            <a:r>
              <a:rPr sz="1275" b="1" i="0" u="none">
                <a:solidFill>
                  <a:srgbClr val="0F172A"/>
                </a:solidFill>
                <a:latin typeface="Plus Jakarta Sans"/>
              </a:rPr>
              <a:t>Python ETL Core</a:t>
            </a:r>
          </a:p>
        </p:txBody>
      </p:sp>
      <p:sp>
        <p:nvSpPr>
          <p:cNvPr id="26" name="TextBox 25"/>
          <p:cNvSpPr txBox="1"/>
          <p:nvPr/>
        </p:nvSpPr>
        <p:spPr>
          <a:xfrm>
            <a:off x="3471267" y="3759398"/>
            <a:ext cx="2387203" cy="171450"/>
          </a:xfrm>
          <a:prstGeom prst="rect">
            <a:avLst/>
          </a:prstGeom>
          <a:noFill/>
        </p:spPr>
        <p:txBody>
          <a:bodyPr wrap="none" lIns="0" tIns="0" rIns="0" bIns="0" anchor="t">
            <a:spAutoFit/>
          </a:bodyPr>
          <a:lstStyle/>
          <a:p>
            <a:pPr algn="ctr"/>
            <a:r>
              <a:rPr sz="1050" b="0" i="0" u="none">
                <a:solidFill>
                  <a:srgbClr val="64748B"/>
                </a:solidFill>
                <a:latin typeface="Plus Jakarta Sans"/>
              </a:rPr>
              <a:t>Làm sạch &amp; khử trùng URL</a:t>
            </a:r>
          </a:p>
        </p:txBody>
      </p:sp>
      <p:sp>
        <p:nvSpPr>
          <p:cNvPr id="27" name="TextBox 26"/>
          <p:cNvSpPr txBox="1"/>
          <p:nvPr/>
        </p:nvSpPr>
        <p:spPr>
          <a:xfrm>
            <a:off x="6273849" y="3492698"/>
            <a:ext cx="2506563" cy="209550"/>
          </a:xfrm>
          <a:prstGeom prst="rect">
            <a:avLst/>
          </a:prstGeom>
          <a:noFill/>
        </p:spPr>
        <p:txBody>
          <a:bodyPr wrap="none" lIns="0" tIns="0" rIns="0" bIns="0" anchor="t">
            <a:spAutoFit/>
          </a:bodyPr>
          <a:lstStyle/>
          <a:p>
            <a:pPr algn="ctr"/>
            <a:r>
              <a:rPr sz="1275" b="1" i="0" u="none">
                <a:solidFill>
                  <a:srgbClr val="0F172A"/>
                </a:solidFill>
                <a:latin typeface="Plus Jakarta Sans"/>
              </a:rPr>
              <a:t>Dual Database</a:t>
            </a:r>
          </a:p>
        </p:txBody>
      </p:sp>
      <p:sp>
        <p:nvSpPr>
          <p:cNvPr id="28" name="TextBox 27"/>
          <p:cNvSpPr txBox="1"/>
          <p:nvPr/>
        </p:nvSpPr>
        <p:spPr>
          <a:xfrm>
            <a:off x="6333529" y="3759398"/>
            <a:ext cx="2387203" cy="171450"/>
          </a:xfrm>
          <a:prstGeom prst="rect">
            <a:avLst/>
          </a:prstGeom>
          <a:noFill/>
        </p:spPr>
        <p:txBody>
          <a:bodyPr wrap="none" lIns="0" tIns="0" rIns="0" bIns="0" anchor="t">
            <a:spAutoFit/>
          </a:bodyPr>
          <a:lstStyle/>
          <a:p>
            <a:pPr algn="ctr"/>
            <a:r>
              <a:rPr sz="1050" b="0" i="0" u="none">
                <a:solidFill>
                  <a:srgbClr val="64748B"/>
                </a:solidFill>
                <a:latin typeface="Plus Jakarta Sans"/>
              </a:rPr>
              <a:t>PostgreSQL / SQLite</a:t>
            </a:r>
          </a:p>
        </p:txBody>
      </p:sp>
      <p:sp>
        <p:nvSpPr>
          <p:cNvPr id="29" name="TextBox 28"/>
          <p:cNvSpPr txBox="1"/>
          <p:nvPr/>
        </p:nvSpPr>
        <p:spPr>
          <a:xfrm>
            <a:off x="9136112" y="3492698"/>
            <a:ext cx="2506563" cy="209550"/>
          </a:xfrm>
          <a:prstGeom prst="rect">
            <a:avLst/>
          </a:prstGeom>
          <a:noFill/>
        </p:spPr>
        <p:txBody>
          <a:bodyPr wrap="none" lIns="0" tIns="0" rIns="0" bIns="0" anchor="t">
            <a:spAutoFit/>
          </a:bodyPr>
          <a:lstStyle/>
          <a:p>
            <a:pPr algn="ctr"/>
            <a:r>
              <a:rPr sz="1275" b="1" i="0" u="none">
                <a:solidFill>
                  <a:srgbClr val="0F172A"/>
                </a:solidFill>
                <a:latin typeface="Plus Jakarta Sans"/>
              </a:rPr>
              <a:t>Apache Superset</a:t>
            </a:r>
          </a:p>
        </p:txBody>
      </p:sp>
      <p:sp>
        <p:nvSpPr>
          <p:cNvPr id="30" name="TextBox 29"/>
          <p:cNvSpPr txBox="1"/>
          <p:nvPr/>
        </p:nvSpPr>
        <p:spPr>
          <a:xfrm>
            <a:off x="9195792" y="3759398"/>
            <a:ext cx="2387203" cy="171450"/>
          </a:xfrm>
          <a:prstGeom prst="rect">
            <a:avLst/>
          </a:prstGeom>
          <a:noFill/>
        </p:spPr>
        <p:txBody>
          <a:bodyPr wrap="none" lIns="0" tIns="0" rIns="0" bIns="0" anchor="t">
            <a:spAutoFit/>
          </a:bodyPr>
          <a:lstStyle/>
          <a:p>
            <a:pPr algn="ctr"/>
            <a:r>
              <a:rPr sz="1050" b="0" i="0" u="none">
                <a:solidFill>
                  <a:srgbClr val="64748B"/>
                </a:solidFill>
                <a:latin typeface="Plus Jakarta Sans"/>
              </a:rPr>
              <a:t>Port 8088 Realtime BI</a:t>
            </a:r>
          </a:p>
        </p:txBody>
      </p:sp>
      <p:sp>
        <p:nvSpPr>
          <p:cNvPr id="31" name="TextBox 30"/>
          <p:cNvSpPr txBox="1"/>
          <p:nvPr/>
        </p:nvSpPr>
        <p:spPr>
          <a:xfrm>
            <a:off x="1466850" y="4630935"/>
            <a:ext cx="2250281" cy="180975"/>
          </a:xfrm>
          <a:prstGeom prst="rect">
            <a:avLst/>
          </a:prstGeom>
          <a:noFill/>
        </p:spPr>
        <p:txBody>
          <a:bodyPr wrap="none" lIns="0" tIns="0" rIns="0" bIns="0" anchor="t">
            <a:spAutoFit/>
          </a:bodyPr>
          <a:lstStyle/>
          <a:p>
            <a:pPr algn="l"/>
            <a:r>
              <a:rPr sz="1125" b="1" i="0" u="none">
                <a:solidFill>
                  <a:srgbClr val="1E293B"/>
                </a:solidFill>
                <a:latin typeface="Plus Jakarta Sans"/>
              </a:rPr>
              <a:t>NLP Sentiment Ensemble:</a:t>
            </a:r>
          </a:p>
        </p:txBody>
      </p:sp>
      <p:sp>
        <p:nvSpPr>
          <p:cNvPr id="32" name="TextBox 31"/>
          <p:cNvSpPr txBox="1"/>
          <p:nvPr/>
        </p:nvSpPr>
        <p:spPr>
          <a:xfrm>
            <a:off x="3381375" y="4630935"/>
            <a:ext cx="3083718" cy="180975"/>
          </a:xfrm>
          <a:prstGeom prst="rect">
            <a:avLst/>
          </a:prstGeom>
          <a:noFill/>
        </p:spPr>
        <p:txBody>
          <a:bodyPr wrap="none" lIns="0" tIns="0" rIns="0" bIns="0" anchor="t">
            <a:spAutoFit/>
          </a:bodyPr>
          <a:lstStyle/>
          <a:p>
            <a:pPr algn="l"/>
            <a:r>
              <a:rPr sz="1125" b="0" i="0" u="none">
                <a:solidFill>
                  <a:srgbClr val="475569"/>
                </a:solidFill>
                <a:latin typeface="Plus Jakarta Sans"/>
              </a:rPr>
              <a:t>VADER + TextBlob phân tích cảm xúc</a:t>
            </a:r>
          </a:p>
        </p:txBody>
      </p:sp>
      <p:sp>
        <p:nvSpPr>
          <p:cNvPr id="33" name="TextBox 32"/>
          <p:cNvSpPr txBox="1"/>
          <p:nvPr/>
        </p:nvSpPr>
        <p:spPr>
          <a:xfrm>
            <a:off x="7439025" y="4630935"/>
            <a:ext cx="2000250" cy="180975"/>
          </a:xfrm>
          <a:prstGeom prst="rect">
            <a:avLst/>
          </a:prstGeom>
          <a:noFill/>
        </p:spPr>
        <p:txBody>
          <a:bodyPr wrap="none" lIns="0" tIns="0" rIns="0" bIns="0" anchor="t">
            <a:spAutoFit/>
          </a:bodyPr>
          <a:lstStyle/>
          <a:p>
            <a:pPr algn="l"/>
            <a:r>
              <a:rPr sz="1125" b="1" i="0" u="none">
                <a:solidFill>
                  <a:srgbClr val="1E293B"/>
                </a:solidFill>
                <a:latin typeface="Plus Jakarta Sans"/>
              </a:rPr>
              <a:t>Executive Summarizer:</a:t>
            </a:r>
          </a:p>
        </p:txBody>
      </p:sp>
      <p:sp>
        <p:nvSpPr>
          <p:cNvPr id="34" name="TextBox 33"/>
          <p:cNvSpPr txBox="1"/>
          <p:nvPr/>
        </p:nvSpPr>
        <p:spPr>
          <a:xfrm>
            <a:off x="9153525" y="4630935"/>
            <a:ext cx="2345531" cy="180975"/>
          </a:xfrm>
          <a:prstGeom prst="rect">
            <a:avLst/>
          </a:prstGeom>
          <a:noFill/>
        </p:spPr>
        <p:txBody>
          <a:bodyPr wrap="none" lIns="0" tIns="0" rIns="0" bIns="0" anchor="t">
            <a:spAutoFit/>
          </a:bodyPr>
          <a:lstStyle/>
          <a:p>
            <a:pPr algn="l"/>
            <a:r>
              <a:rPr sz="1125" b="0" i="0" u="none">
                <a:solidFill>
                  <a:srgbClr val="475569"/>
                </a:solidFill>
                <a:latin typeface="Plus Jakarta Sans"/>
              </a:rPr>
              <a:t>Google Gemini 1.5 Flash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602110"/>
            <a:ext cx="6056114" cy="2486025"/>
          </a:xfrm>
          <a:prstGeom prst="roundRect">
            <a:avLst>
              <a:gd name="adj" fmla="val 45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932414" y="2795587"/>
            <a:ext cx="4649985" cy="1159966"/>
          </a:xfrm>
          <a:prstGeom prst="roundRect">
            <a:avLst>
              <a:gd name="adj" fmla="val 821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932414" y="4107953"/>
            <a:ext cx="4649985" cy="786705"/>
          </a:xfrm>
          <a:prstGeom prst="roundRect">
            <a:avLst>
              <a:gd name="adj" fmla="val 121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847725" y="2864048"/>
            <a:ext cx="152400" cy="152400"/>
          </a:xfrm>
          <a:prstGeom prst="rect">
            <a:avLst/>
          </a:prstGeom>
        </p:spPr>
      </p:pic>
      <p:pic>
        <p:nvPicPr>
          <p:cNvPr id="6" name="Picture 5" descr="image.png"/>
          <p:cNvPicPr>
            <a:picLocks noChangeAspect="1"/>
          </p:cNvPicPr>
          <p:nvPr/>
        </p:nvPicPr>
        <p:blipFill>
          <a:blip r:embed="rId3"/>
          <a:stretch>
            <a:fillRect/>
          </a:stretch>
        </p:blipFill>
        <p:spPr>
          <a:xfrm>
            <a:off x="7113389" y="3005137"/>
            <a:ext cx="142875" cy="142875"/>
          </a:xfrm>
          <a:prstGeom prst="rect">
            <a:avLst/>
          </a:prstGeom>
        </p:spPr>
      </p:pic>
      <p:pic>
        <p:nvPicPr>
          <p:cNvPr id="7" name="Picture 6" descr="image.png"/>
          <p:cNvPicPr>
            <a:picLocks noChangeAspect="1"/>
          </p:cNvPicPr>
          <p:nvPr/>
        </p:nvPicPr>
        <p:blipFill>
          <a:blip r:embed="rId4"/>
          <a:stretch>
            <a:fillRect/>
          </a:stretch>
        </p:blipFill>
        <p:spPr>
          <a:xfrm>
            <a:off x="7113389" y="4317503"/>
            <a:ext cx="142875" cy="142875"/>
          </a:xfrm>
          <a:prstGeom prst="rect">
            <a:avLst/>
          </a:prstGeom>
        </p:spPr>
      </p:pic>
      <p:graphicFrame>
        <p:nvGraphicFramePr>
          <p:cNvPr id="8" name="Table 7"/>
          <p:cNvGraphicFramePr>
            <a:graphicFrameLocks noGrp="1"/>
          </p:cNvGraphicFramePr>
          <p:nvPr/>
        </p:nvGraphicFramePr>
        <p:xfrm>
          <a:off x="847725" y="3154560"/>
          <a:ext cx="5579863" cy="1695450"/>
        </p:xfrm>
        <a:graphic>
          <a:graphicData uri="http://schemas.openxmlformats.org/drawingml/2006/table">
            <a:tbl>
              <a:tblPr/>
              <a:tblGrid>
                <a:gridCol w="1674167">
                  <a:extLst>
                    <a:ext uri="{9D8B030D-6E8A-4147-A177-3AD203B41FA5}">
                      <a16:colId xmlns:a16="http://schemas.microsoft.com/office/drawing/2014/main" val="20000"/>
                    </a:ext>
                  </a:extLst>
                </a:gridCol>
                <a:gridCol w="1530697">
                  <a:extLst>
                    <a:ext uri="{9D8B030D-6E8A-4147-A177-3AD203B41FA5}">
                      <a16:colId xmlns:a16="http://schemas.microsoft.com/office/drawing/2014/main" val="20001"/>
                    </a:ext>
                  </a:extLst>
                </a:gridCol>
                <a:gridCol w="2374999">
                  <a:extLst>
                    <a:ext uri="{9D8B030D-6E8A-4147-A177-3AD203B41FA5}">
                      <a16:colId xmlns:a16="http://schemas.microsoft.com/office/drawing/2014/main" val="20002"/>
                    </a:ext>
                  </a:extLst>
                </a:gridCol>
              </a:tblGrid>
              <a:tr h="282575">
                <a:tc>
                  <a:txBody>
                    <a:bodyPr/>
                    <a:lstStyle/>
                    <a:p>
                      <a:pPr algn="l"/>
                      <a:r>
                        <a:rPr sz="975" b="1" i="0" u="none">
                          <a:solidFill>
                            <a:srgbClr val="64748B"/>
                          </a:solidFill>
                          <a:latin typeface="Plus Jakarta Sans"/>
                        </a:rPr>
                        <a:t>Trường dữ liệu</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64748B"/>
                          </a:solidFill>
                          <a:latin typeface="Plus Jakarta Sans"/>
                        </a:rPr>
                        <a:t>Kiểu dữ liệu</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64748B"/>
                          </a:solidFill>
                          <a:latin typeface="Plus Jakarta Sans"/>
                        </a:rPr>
                        <a:t>Ràng buộc &amp; Ý nghĩa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282575">
                <a:tc>
                  <a:txBody>
                    <a:bodyPr/>
                    <a:lstStyle/>
                    <a:p>
                      <a:pPr algn="l"/>
                      <a:r>
                        <a:rPr sz="975" b="1" i="0" u="none">
                          <a:solidFill>
                            <a:srgbClr val="0284C7"/>
                          </a:solidFill>
                          <a:latin typeface="monospace"/>
                        </a:rPr>
                        <a:t>article_id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SERIAL / INTEGER</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Khóa chính tự tăng (PK)</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1"/>
                  </a:ext>
                </a:extLst>
              </a:tr>
              <a:tr h="282575">
                <a:tc>
                  <a:txBody>
                    <a:bodyPr/>
                    <a:lstStyle/>
                    <a:p>
                      <a:pPr algn="l"/>
                      <a:r>
                        <a:rPr sz="975" b="1" i="0" u="none">
                          <a:solidFill>
                            <a:srgbClr val="0284C7"/>
                          </a:solidFill>
                          <a:latin typeface="monospace"/>
                        </a:rPr>
                        <a:t>url</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VARCHAR(512)</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UNIQUE (Khử trùng bài viết)</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282575">
                <a:tc>
                  <a:txBody>
                    <a:bodyPr/>
                    <a:lstStyle/>
                    <a:p>
                      <a:pPr algn="l"/>
                      <a:r>
                        <a:rPr sz="975" b="1" i="0" u="none">
                          <a:solidFill>
                            <a:srgbClr val="0284C7"/>
                          </a:solidFill>
                          <a:latin typeface="monospace"/>
                        </a:rPr>
                        <a:t>sentiment_score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FLOAT</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Điểm sắc thái tổng hợp</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282575">
                <a:tc>
                  <a:txBody>
                    <a:bodyPr/>
                    <a:lstStyle/>
                    <a:p>
                      <a:pPr algn="l"/>
                      <a:r>
                        <a:rPr sz="975" b="1" i="0" u="none">
                          <a:solidFill>
                            <a:srgbClr val="0284C7"/>
                          </a:solidFill>
                          <a:latin typeface="monospace"/>
                        </a:rPr>
                        <a:t>category</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VARCHAR(64)</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8 nhóm danh mục định sẵn</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282575">
                <a:tc>
                  <a:txBody>
                    <a:bodyPr/>
                    <a:lstStyle/>
                    <a:p>
                      <a:pPr algn="l"/>
                      <a:r>
                        <a:rPr sz="975" b="1" i="0" u="none">
                          <a:solidFill>
                            <a:srgbClr val="0284C7"/>
                          </a:solidFill>
                          <a:latin typeface="monospace"/>
                        </a:rPr>
                        <a:t>ai_summary</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TEXT</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0F172A"/>
                          </a:solidFill>
                          <a:latin typeface="Plus Jakarta Sans"/>
                        </a:rPr>
                        <a:t>Tóm tắt điều hành từ Gemini</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DATA STORAGE</a:t>
            </a:r>
          </a:p>
        </p:txBody>
      </p:sp>
      <p:sp>
        <p:nvSpPr>
          <p:cNvPr id="10" name="TextBox 9"/>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Thiết Kế Kho Dữ Liệu &amp; Cơ Chế Dual Database</a:t>
            </a:r>
          </a:p>
        </p:txBody>
      </p:sp>
      <p:sp>
        <p:nvSpPr>
          <p:cNvPr id="11" name="TextBox 10"/>
          <p:cNvSpPr txBox="1"/>
          <p:nvPr/>
        </p:nvSpPr>
        <p:spPr>
          <a:xfrm>
            <a:off x="1076325" y="2840235"/>
            <a:ext cx="3562945" cy="200025"/>
          </a:xfrm>
          <a:prstGeom prst="rect">
            <a:avLst/>
          </a:prstGeom>
          <a:noFill/>
        </p:spPr>
        <p:txBody>
          <a:bodyPr wrap="none" lIns="0" tIns="0" rIns="0" bIns="0" anchor="t">
            <a:spAutoFit/>
          </a:bodyPr>
          <a:lstStyle/>
          <a:p>
            <a:pPr algn="l"/>
            <a:r>
              <a:rPr sz="1200" b="1" i="0" u="none">
                <a:solidFill>
                  <a:srgbClr val="0F172A"/>
                </a:solidFill>
                <a:latin typeface="Plus Jakarta Sans"/>
              </a:rPr>
              <a:t>news_vietnam_articles (14 Columns)</a:t>
            </a:r>
          </a:p>
        </p:txBody>
      </p:sp>
      <p:sp>
        <p:nvSpPr>
          <p:cNvPr id="12" name="TextBox 11"/>
          <p:cNvSpPr txBox="1"/>
          <p:nvPr/>
        </p:nvSpPr>
        <p:spPr>
          <a:xfrm>
            <a:off x="7113389" y="2976562"/>
            <a:ext cx="5078610" cy="180975"/>
          </a:xfrm>
          <a:prstGeom prst="rect">
            <a:avLst/>
          </a:prstGeom>
          <a:noFill/>
        </p:spPr>
        <p:txBody>
          <a:bodyPr wrap="none" lIns="200025" tIns="0" rIns="0" bIns="0" anchor="t">
            <a:spAutoFit/>
          </a:bodyPr>
          <a:lstStyle/>
          <a:p>
            <a:pPr algn="l"/>
            <a:r>
              <a:rPr sz="1125" b="1" i="0" u="none">
                <a:solidFill>
                  <a:srgbClr val="166534"/>
                </a:solidFill>
                <a:latin typeface="Plus Jakarta Sans"/>
              </a:rPr>
              <a:t>Cơ chế Dual Database</a:t>
            </a:r>
          </a:p>
        </p:txBody>
      </p:sp>
      <p:sp>
        <p:nvSpPr>
          <p:cNvPr id="13" name="TextBox 12"/>
          <p:cNvSpPr txBox="1"/>
          <p:nvPr/>
        </p:nvSpPr>
        <p:spPr>
          <a:xfrm>
            <a:off x="7113389" y="3214687"/>
            <a:ext cx="4383285" cy="559891"/>
          </a:xfrm>
          <a:prstGeom prst="rect">
            <a:avLst/>
          </a:prstGeom>
          <a:noFill/>
        </p:spPr>
        <p:txBody>
          <a:bodyPr wrap="square" lIns="0" tIns="0" rIns="0" bIns="0" anchor="t">
            <a:spAutoFit/>
          </a:bodyPr>
          <a:lstStyle/>
          <a:p>
            <a:pPr algn="l">
              <a:lnSpc>
                <a:spcPts val="1470"/>
              </a:lnSpc>
            </a:pPr>
            <a:r>
              <a:rPr sz="1050" b="1" i="0" u="none">
                <a:solidFill>
                  <a:srgbClr val="374151"/>
                </a:solidFill>
                <a:latin typeface="Plus Jakarta Sans"/>
              </a:rPr>
              <a:t>SQLite:</a:t>
            </a:r>
            <a:r>
              <a:rPr sz="1050" b="0" i="0" u="none">
                <a:solidFill>
                  <a:srgbClr val="374151"/>
                </a:solidFill>
                <a:latin typeface="Plus Jakarta Sans"/>
              </a:rPr>
              <a:t> Phát triển nhanh, kiểm thử tự động không cần phụ thuộc hạ tầng.</a:t>
            </a:r>
            <a:r>
              <a:t>
</a:t>
            </a:r>
            <a:r>
              <a:rPr sz="1050" b="1" i="0" u="none">
                <a:solidFill>
                  <a:srgbClr val="374151"/>
                </a:solidFill>
                <a:latin typeface="Plus Jakarta Sans"/>
              </a:rPr>
              <a:t>PostgreSQL:</a:t>
            </a:r>
            <a:r>
              <a:rPr sz="1050" b="0" i="0" u="none">
                <a:solidFill>
                  <a:srgbClr val="374151"/>
                </a:solidFill>
                <a:latin typeface="Plus Jakarta Sans"/>
              </a:rPr>
              <a:t> Triển khai production, lập chỉ mục tối ưu cho Superset BI.</a:t>
            </a:r>
          </a:p>
        </p:txBody>
      </p:sp>
      <p:sp>
        <p:nvSpPr>
          <p:cNvPr id="14" name="TextBox 13"/>
          <p:cNvSpPr txBox="1"/>
          <p:nvPr/>
        </p:nvSpPr>
        <p:spPr>
          <a:xfrm>
            <a:off x="7113389" y="4288928"/>
            <a:ext cx="5078610" cy="180975"/>
          </a:xfrm>
          <a:prstGeom prst="rect">
            <a:avLst/>
          </a:prstGeom>
          <a:noFill/>
        </p:spPr>
        <p:txBody>
          <a:bodyPr wrap="none" lIns="200025" tIns="0" rIns="0" bIns="0" anchor="t">
            <a:spAutoFit/>
          </a:bodyPr>
          <a:lstStyle/>
          <a:p>
            <a:pPr algn="l"/>
            <a:r>
              <a:rPr sz="1125" b="1" i="0" u="none">
                <a:solidFill>
                  <a:srgbClr val="0F172A"/>
                </a:solidFill>
                <a:latin typeface="Plus Jakarta Sans"/>
              </a:rPr>
              <a:t>Bảng news_volume_forecast</a:t>
            </a:r>
          </a:p>
        </p:txBody>
      </p:sp>
      <p:sp>
        <p:nvSpPr>
          <p:cNvPr id="15" name="TextBox 14"/>
          <p:cNvSpPr txBox="1"/>
          <p:nvPr/>
        </p:nvSpPr>
        <p:spPr>
          <a:xfrm>
            <a:off x="7113389" y="4527053"/>
            <a:ext cx="5078610" cy="186630"/>
          </a:xfrm>
          <a:prstGeom prst="rect">
            <a:avLst/>
          </a:prstGeom>
          <a:noFill/>
        </p:spPr>
        <p:txBody>
          <a:bodyPr wrap="none" lIns="0" tIns="0" rIns="0" bIns="0" anchor="t">
            <a:spAutoFit/>
          </a:bodyPr>
          <a:lstStyle/>
          <a:p>
            <a:pPr algn="l">
              <a:lnSpc>
                <a:spcPts val="1470"/>
              </a:lnSpc>
            </a:pPr>
            <a:r>
              <a:rPr sz="1050" b="0" i="0" u="none">
                <a:solidFill>
                  <a:srgbClr val="475569"/>
                </a:solidFill>
                <a:latin typeface="Plus Jakarta Sans"/>
              </a:rPr>
              <a:t>Lưu vết lịch sử và kết quả hồi quy chuỗi thời gian cho 7 ngày kế tiếp.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354460"/>
            <a:ext cx="10972800" cy="676275"/>
          </a:xfrm>
          <a:prstGeom prst="roundRect">
            <a:avLst>
              <a:gd name="adj" fmla="val 14084"/>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886950" y="2559248"/>
            <a:ext cx="1466850" cy="2667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3259335"/>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390900" y="3259335"/>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172200" y="3259335"/>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53500" y="3259335"/>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09600" y="4373760"/>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90900" y="4373760"/>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2200" y="4373760"/>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953500" y="4373760"/>
            <a:ext cx="2628900" cy="962025"/>
          </a:xfrm>
          <a:prstGeom prst="roundRect">
            <a:avLst>
              <a:gd name="adj" fmla="val 99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2"/>
          <a:stretch>
            <a:fillRect/>
          </a:stretch>
        </p:blipFill>
        <p:spPr>
          <a:xfrm>
            <a:off x="838200" y="2587823"/>
            <a:ext cx="209550" cy="209550"/>
          </a:xfrm>
          <a:prstGeom prst="rect">
            <a:avLst/>
          </a:prstGeom>
        </p:spPr>
      </p:pic>
      <p:pic>
        <p:nvPicPr>
          <p:cNvPr id="13" name="Picture 12" descr="image.png"/>
          <p:cNvPicPr>
            <a:picLocks noChangeAspect="1"/>
          </p:cNvPicPr>
          <p:nvPr/>
        </p:nvPicPr>
        <p:blipFill>
          <a:blip r:embed="rId3"/>
          <a:stretch>
            <a:fillRect/>
          </a:stretch>
        </p:blipFill>
        <p:spPr>
          <a:xfrm>
            <a:off x="1819275" y="3421260"/>
            <a:ext cx="209550" cy="209550"/>
          </a:xfrm>
          <a:prstGeom prst="rect">
            <a:avLst/>
          </a:prstGeom>
        </p:spPr>
      </p:pic>
      <p:pic>
        <p:nvPicPr>
          <p:cNvPr id="14" name="Picture 13" descr="image.png"/>
          <p:cNvPicPr>
            <a:picLocks noChangeAspect="1"/>
          </p:cNvPicPr>
          <p:nvPr/>
        </p:nvPicPr>
        <p:blipFill>
          <a:blip r:embed="rId4"/>
          <a:stretch>
            <a:fillRect/>
          </a:stretch>
        </p:blipFill>
        <p:spPr>
          <a:xfrm>
            <a:off x="4600575" y="3421260"/>
            <a:ext cx="209550" cy="209550"/>
          </a:xfrm>
          <a:prstGeom prst="rect">
            <a:avLst/>
          </a:prstGeom>
        </p:spPr>
      </p:pic>
      <p:pic>
        <p:nvPicPr>
          <p:cNvPr id="15" name="Picture 14" descr="image.png"/>
          <p:cNvPicPr>
            <a:picLocks noChangeAspect="1"/>
          </p:cNvPicPr>
          <p:nvPr/>
        </p:nvPicPr>
        <p:blipFill>
          <a:blip r:embed="rId5"/>
          <a:stretch>
            <a:fillRect/>
          </a:stretch>
        </p:blipFill>
        <p:spPr>
          <a:xfrm>
            <a:off x="7381875" y="3421260"/>
            <a:ext cx="209550" cy="209550"/>
          </a:xfrm>
          <a:prstGeom prst="rect">
            <a:avLst/>
          </a:prstGeom>
        </p:spPr>
      </p:pic>
      <p:pic>
        <p:nvPicPr>
          <p:cNvPr id="16" name="Picture 15" descr="image.png"/>
          <p:cNvPicPr>
            <a:picLocks noChangeAspect="1"/>
          </p:cNvPicPr>
          <p:nvPr/>
        </p:nvPicPr>
        <p:blipFill>
          <a:blip r:embed="rId6"/>
          <a:stretch>
            <a:fillRect/>
          </a:stretch>
        </p:blipFill>
        <p:spPr>
          <a:xfrm>
            <a:off x="10134600" y="3421260"/>
            <a:ext cx="266700" cy="209550"/>
          </a:xfrm>
          <a:prstGeom prst="rect">
            <a:avLst/>
          </a:prstGeom>
        </p:spPr>
      </p:pic>
      <p:pic>
        <p:nvPicPr>
          <p:cNvPr id="17" name="Picture 16" descr="image.png"/>
          <p:cNvPicPr>
            <a:picLocks noChangeAspect="1"/>
          </p:cNvPicPr>
          <p:nvPr/>
        </p:nvPicPr>
        <p:blipFill>
          <a:blip r:embed="rId7"/>
          <a:stretch>
            <a:fillRect/>
          </a:stretch>
        </p:blipFill>
        <p:spPr>
          <a:xfrm>
            <a:off x="1843087" y="4535685"/>
            <a:ext cx="161925" cy="209550"/>
          </a:xfrm>
          <a:prstGeom prst="rect">
            <a:avLst/>
          </a:prstGeom>
        </p:spPr>
      </p:pic>
      <p:pic>
        <p:nvPicPr>
          <p:cNvPr id="18" name="Picture 17" descr="image.png"/>
          <p:cNvPicPr>
            <a:picLocks noChangeAspect="1"/>
          </p:cNvPicPr>
          <p:nvPr/>
        </p:nvPicPr>
        <p:blipFill>
          <a:blip r:embed="rId8"/>
          <a:stretch>
            <a:fillRect/>
          </a:stretch>
        </p:blipFill>
        <p:spPr>
          <a:xfrm>
            <a:off x="4572000" y="4535685"/>
            <a:ext cx="266700" cy="209550"/>
          </a:xfrm>
          <a:prstGeom prst="rect">
            <a:avLst/>
          </a:prstGeom>
        </p:spPr>
      </p:pic>
      <p:pic>
        <p:nvPicPr>
          <p:cNvPr id="19" name="Picture 18" descr="image.png"/>
          <p:cNvPicPr>
            <a:picLocks noChangeAspect="1"/>
          </p:cNvPicPr>
          <p:nvPr/>
        </p:nvPicPr>
        <p:blipFill>
          <a:blip r:embed="rId9"/>
          <a:stretch>
            <a:fillRect/>
          </a:stretch>
        </p:blipFill>
        <p:spPr>
          <a:xfrm>
            <a:off x="7381875" y="4535685"/>
            <a:ext cx="209550" cy="209550"/>
          </a:xfrm>
          <a:prstGeom prst="rect">
            <a:avLst/>
          </a:prstGeom>
        </p:spPr>
      </p:pic>
      <p:pic>
        <p:nvPicPr>
          <p:cNvPr id="20" name="Picture 19" descr="image.png"/>
          <p:cNvPicPr>
            <a:picLocks noChangeAspect="1"/>
          </p:cNvPicPr>
          <p:nvPr/>
        </p:nvPicPr>
        <p:blipFill>
          <a:blip r:embed="rId10"/>
          <a:stretch>
            <a:fillRect/>
          </a:stretch>
        </p:blipFill>
        <p:spPr>
          <a:xfrm>
            <a:off x="10163175" y="4535685"/>
            <a:ext cx="209550" cy="209550"/>
          </a:xfrm>
          <a:prstGeom prst="rect">
            <a:avLst/>
          </a:prstGeom>
        </p:spPr>
      </p:pic>
      <p:sp>
        <p:nvSpPr>
          <p:cNvPr id="21" name="TextBox 20"/>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CONTEXT FILTERING</a:t>
            </a:r>
          </a:p>
        </p:txBody>
      </p:sp>
      <p:sp>
        <p:nvSpPr>
          <p:cNvPr id="22" name="TextBox 21"/>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Bộ Lọc Ngữ Cảnh &amp; Ma Trận 8 Chủ Đề Báo Chí</a:t>
            </a:r>
          </a:p>
        </p:txBody>
      </p:sp>
      <p:sp>
        <p:nvSpPr>
          <p:cNvPr id="23" name="TextBox 22"/>
          <p:cNvSpPr txBox="1"/>
          <p:nvPr/>
        </p:nvSpPr>
        <p:spPr>
          <a:xfrm>
            <a:off x="10001250" y="2616398"/>
            <a:ext cx="1333500" cy="152400"/>
          </a:xfrm>
          <a:prstGeom prst="rect">
            <a:avLst/>
          </a:prstGeom>
          <a:noFill/>
        </p:spPr>
        <p:txBody>
          <a:bodyPr wrap="square" lIns="0" tIns="0" rIns="0" bIns="0" anchor="t">
            <a:spAutoFit/>
          </a:bodyPr>
          <a:lstStyle/>
          <a:p>
            <a:pPr algn="l"/>
            <a:r>
              <a:rPr sz="975" b="1" i="0" u="none">
                <a:solidFill>
                  <a:srgbClr val="0284C7"/>
                </a:solidFill>
                <a:latin typeface="Plus Jakarta Sans"/>
              </a:rPr>
              <a:t>Độ chính xác: 98.2%</a:t>
            </a:r>
          </a:p>
        </p:txBody>
      </p:sp>
      <p:sp>
        <p:nvSpPr>
          <p:cNvPr id="24" name="TextBox 23"/>
          <p:cNvSpPr txBox="1"/>
          <p:nvPr/>
        </p:nvSpPr>
        <p:spPr>
          <a:xfrm>
            <a:off x="411360" y="3707010"/>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Kinh Tế</a:t>
            </a:r>
          </a:p>
        </p:txBody>
      </p:sp>
      <p:sp>
        <p:nvSpPr>
          <p:cNvPr id="25" name="TextBox 24"/>
          <p:cNvSpPr txBox="1"/>
          <p:nvPr/>
        </p:nvSpPr>
        <p:spPr>
          <a:xfrm>
            <a:off x="483393" y="39070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Tài chính, vĩ mô, FDI</a:t>
            </a:r>
          </a:p>
        </p:txBody>
      </p:sp>
      <p:sp>
        <p:nvSpPr>
          <p:cNvPr id="26" name="TextBox 25"/>
          <p:cNvSpPr txBox="1"/>
          <p:nvPr/>
        </p:nvSpPr>
        <p:spPr>
          <a:xfrm>
            <a:off x="3192660" y="3707010"/>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Công Nghệ</a:t>
            </a:r>
          </a:p>
        </p:txBody>
      </p:sp>
      <p:sp>
        <p:nvSpPr>
          <p:cNvPr id="27" name="TextBox 26"/>
          <p:cNvSpPr txBox="1"/>
          <p:nvPr/>
        </p:nvSpPr>
        <p:spPr>
          <a:xfrm>
            <a:off x="3264693" y="39070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AI, Bán dẫn, Chuyển đổi số</a:t>
            </a:r>
          </a:p>
        </p:txBody>
      </p:sp>
      <p:sp>
        <p:nvSpPr>
          <p:cNvPr id="28" name="TextBox 27"/>
          <p:cNvSpPr txBox="1"/>
          <p:nvPr/>
        </p:nvSpPr>
        <p:spPr>
          <a:xfrm>
            <a:off x="5973960" y="3707010"/>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Chính Trị</a:t>
            </a:r>
          </a:p>
        </p:txBody>
      </p:sp>
      <p:sp>
        <p:nvSpPr>
          <p:cNvPr id="29" name="TextBox 28"/>
          <p:cNvSpPr txBox="1"/>
          <p:nvPr/>
        </p:nvSpPr>
        <p:spPr>
          <a:xfrm>
            <a:off x="6045993" y="39070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Nghị quyết, Chính sách</a:t>
            </a:r>
          </a:p>
        </p:txBody>
      </p:sp>
      <p:sp>
        <p:nvSpPr>
          <p:cNvPr id="30" name="TextBox 29"/>
          <p:cNvSpPr txBox="1"/>
          <p:nvPr/>
        </p:nvSpPr>
        <p:spPr>
          <a:xfrm>
            <a:off x="8755260" y="3707010"/>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Xã Hội</a:t>
            </a:r>
          </a:p>
        </p:txBody>
      </p:sp>
      <p:sp>
        <p:nvSpPr>
          <p:cNvPr id="31" name="TextBox 30"/>
          <p:cNvSpPr txBox="1"/>
          <p:nvPr/>
        </p:nvSpPr>
        <p:spPr>
          <a:xfrm>
            <a:off x="8827293" y="39070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Đời sống, Y tế, Giáo dục</a:t>
            </a:r>
          </a:p>
        </p:txBody>
      </p:sp>
      <p:sp>
        <p:nvSpPr>
          <p:cNvPr id="32" name="TextBox 31"/>
          <p:cNvSpPr txBox="1"/>
          <p:nvPr/>
        </p:nvSpPr>
        <p:spPr>
          <a:xfrm>
            <a:off x="411360" y="4821435"/>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Bất Động Sản</a:t>
            </a:r>
          </a:p>
        </p:txBody>
      </p:sp>
      <p:sp>
        <p:nvSpPr>
          <p:cNvPr id="33" name="TextBox 32"/>
          <p:cNvSpPr txBox="1"/>
          <p:nvPr/>
        </p:nvSpPr>
        <p:spPr>
          <a:xfrm>
            <a:off x="483393" y="5021460"/>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Dự án, Quy hoạch đô thị</a:t>
            </a:r>
          </a:p>
        </p:txBody>
      </p:sp>
      <p:sp>
        <p:nvSpPr>
          <p:cNvPr id="34" name="TextBox 33"/>
          <p:cNvSpPr txBox="1"/>
          <p:nvPr/>
        </p:nvSpPr>
        <p:spPr>
          <a:xfrm>
            <a:off x="3192660" y="4821435"/>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Du Lịch</a:t>
            </a:r>
          </a:p>
        </p:txBody>
      </p:sp>
      <p:sp>
        <p:nvSpPr>
          <p:cNvPr id="35" name="TextBox 34"/>
          <p:cNvSpPr txBox="1"/>
          <p:nvPr/>
        </p:nvSpPr>
        <p:spPr>
          <a:xfrm>
            <a:off x="3264693" y="5021460"/>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Điểm đến, Khách quốc tế</a:t>
            </a:r>
          </a:p>
        </p:txBody>
      </p:sp>
      <p:sp>
        <p:nvSpPr>
          <p:cNvPr id="36" name="TextBox 35"/>
          <p:cNvSpPr txBox="1"/>
          <p:nvPr/>
        </p:nvSpPr>
        <p:spPr>
          <a:xfrm>
            <a:off x="5973960" y="4821435"/>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Môi Trường</a:t>
            </a:r>
          </a:p>
        </p:txBody>
      </p:sp>
      <p:sp>
        <p:nvSpPr>
          <p:cNvPr id="37" name="TextBox 36"/>
          <p:cNvSpPr txBox="1"/>
          <p:nvPr/>
        </p:nvSpPr>
        <p:spPr>
          <a:xfrm>
            <a:off x="6045993" y="5021460"/>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Khí hậu, Năng lượng xanh</a:t>
            </a:r>
          </a:p>
        </p:txBody>
      </p:sp>
      <p:sp>
        <p:nvSpPr>
          <p:cNvPr id="38" name="TextBox 37"/>
          <p:cNvSpPr txBox="1"/>
          <p:nvPr/>
        </p:nvSpPr>
        <p:spPr>
          <a:xfrm>
            <a:off x="8755260" y="4821435"/>
            <a:ext cx="3025378" cy="200025"/>
          </a:xfrm>
          <a:prstGeom prst="rect">
            <a:avLst/>
          </a:prstGeom>
          <a:noFill/>
        </p:spPr>
        <p:txBody>
          <a:bodyPr wrap="none" lIns="0" tIns="0" rIns="0" bIns="0" anchor="t">
            <a:spAutoFit/>
          </a:bodyPr>
          <a:lstStyle/>
          <a:p>
            <a:pPr algn="ctr"/>
            <a:r>
              <a:rPr sz="1200" b="1" i="0" u="none">
                <a:solidFill>
                  <a:srgbClr val="0F172A"/>
                </a:solidFill>
                <a:latin typeface="Plus Jakarta Sans"/>
              </a:rPr>
              <a:t>Thể Thao</a:t>
            </a:r>
          </a:p>
        </p:txBody>
      </p:sp>
      <p:sp>
        <p:nvSpPr>
          <p:cNvPr id="39" name="TextBox 38"/>
          <p:cNvSpPr txBox="1"/>
          <p:nvPr/>
        </p:nvSpPr>
        <p:spPr>
          <a:xfrm>
            <a:off x="8827293" y="5021460"/>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Bóng đá, Giải đấu quốc tế</a:t>
            </a:r>
          </a:p>
        </p:txBody>
      </p:sp>
      <p:sp>
        <p:nvSpPr>
          <p:cNvPr id="40" name="TextBox 39"/>
          <p:cNvSpPr txBox="1"/>
          <p:nvPr/>
        </p:nvSpPr>
        <p:spPr>
          <a:xfrm>
            <a:off x="1181100" y="2506860"/>
            <a:ext cx="7600950" cy="200025"/>
          </a:xfrm>
          <a:prstGeom prst="rect">
            <a:avLst/>
          </a:prstGeom>
          <a:noFill/>
        </p:spPr>
        <p:txBody>
          <a:bodyPr wrap="none" lIns="0" tIns="0" rIns="0" bIns="0" anchor="t">
            <a:spAutoFit/>
          </a:bodyPr>
          <a:lstStyle/>
          <a:p>
            <a:pPr algn="l"/>
            <a:r>
              <a:rPr sz="1200" b="1" i="0" u="none">
                <a:solidFill>
                  <a:srgbClr val="0369A1"/>
                </a:solidFill>
                <a:latin typeface="Plus Jakarta Sans"/>
              </a:rPr>
              <a:t>Vietnam Context Regex &amp; NER Filter</a:t>
            </a:r>
          </a:p>
        </p:txBody>
      </p:sp>
      <p:sp>
        <p:nvSpPr>
          <p:cNvPr id="41" name="TextBox 40"/>
          <p:cNvSpPr txBox="1"/>
          <p:nvPr/>
        </p:nvSpPr>
        <p:spPr>
          <a:xfrm>
            <a:off x="1181100" y="2706885"/>
            <a:ext cx="7239000" cy="171450"/>
          </a:xfrm>
          <a:prstGeom prst="rect">
            <a:avLst/>
          </a:prstGeom>
          <a:noFill/>
        </p:spPr>
        <p:txBody>
          <a:bodyPr wrap="none" lIns="0" tIns="0" rIns="0" bIns="0" anchor="t">
            <a:spAutoFit/>
          </a:bodyPr>
          <a:lstStyle/>
          <a:p>
            <a:pPr algn="l"/>
            <a:r>
              <a:rPr sz="1050" b="0" i="0" u="none">
                <a:solidFill>
                  <a:srgbClr val="0F172A"/>
                </a:solidFill>
                <a:latin typeface="Plus Jakarta Sans"/>
              </a:rPr>
              <a:t>Loại bỏ 100% tin tức rác ngoài luồng, chỉ giữ lại thực thể địa lý, pháp nhân và chính sách Việt Nam.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499866"/>
            <a:ext cx="10972800" cy="1252239"/>
          </a:xfrm>
          <a:prstGeom prst="roundRect">
            <a:avLst>
              <a:gd name="adj" fmla="val 912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018805"/>
            <a:ext cx="3530649" cy="1171575"/>
          </a:xfrm>
          <a:prstGeom prst="roundRect">
            <a:avLst>
              <a:gd name="adj" fmla="val 8130"/>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4018805"/>
            <a:ext cx="3530649" cy="1171575"/>
          </a:xfrm>
          <a:prstGeom prst="roundRect">
            <a:avLst>
              <a:gd name="adj" fmla="val 813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4018805"/>
            <a:ext cx="3530649" cy="1171575"/>
          </a:xfrm>
          <a:prstGeom prst="roundRect">
            <a:avLst>
              <a:gd name="adj" fmla="val 813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4018805"/>
            <a:ext cx="3530649"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30749" y="4018805"/>
            <a:ext cx="3530649" cy="381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051899" y="4018805"/>
            <a:ext cx="3530649"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2"/>
          <a:stretch>
            <a:fillRect/>
          </a:stretch>
        </p:blipFill>
        <p:spPr>
          <a:xfrm>
            <a:off x="4246512" y="3023741"/>
            <a:ext cx="3698974" cy="204489"/>
          </a:xfrm>
          <a:prstGeom prst="rect">
            <a:avLst/>
          </a:prstGeom>
        </p:spPr>
      </p:pic>
      <p:sp>
        <p:nvSpPr>
          <p:cNvPr id="10" name="TextBox 9"/>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NLP INTELLIGENCE</a:t>
            </a:r>
          </a:p>
        </p:txBody>
      </p:sp>
      <p:sp>
        <p:nvSpPr>
          <p:cNvPr id="11" name="TextBox 10"/>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Mô Hình Phân Tích Sắc Thái Ensemble</a:t>
            </a:r>
          </a:p>
        </p:txBody>
      </p:sp>
      <p:sp>
        <p:nvSpPr>
          <p:cNvPr id="12" name="TextBox 11"/>
          <p:cNvSpPr txBox="1"/>
          <p:nvPr/>
        </p:nvSpPr>
        <p:spPr>
          <a:xfrm>
            <a:off x="-232171" y="2737991"/>
            <a:ext cx="12656343" cy="171450"/>
          </a:xfrm>
          <a:prstGeom prst="rect">
            <a:avLst/>
          </a:prstGeom>
          <a:noFill/>
        </p:spPr>
        <p:txBody>
          <a:bodyPr wrap="none" lIns="0" tIns="0" rIns="0" bIns="0" anchor="t">
            <a:spAutoFit/>
          </a:bodyPr>
          <a:lstStyle/>
          <a:p>
            <a:pPr algn="ctr"/>
            <a:r>
              <a:rPr sz="1050" b="1" i="0" u="none">
                <a:solidFill>
                  <a:srgbClr val="64748B"/>
                </a:solidFill>
                <a:latin typeface="Plus Jakarta Sans"/>
              </a:rPr>
              <a:t>CÔNG THỨC TRỌNG SỐ KẾT HỢP</a:t>
            </a:r>
          </a:p>
        </p:txBody>
      </p:sp>
      <p:sp>
        <p:nvSpPr>
          <p:cNvPr id="13" name="TextBox 12"/>
          <p:cNvSpPr txBox="1"/>
          <p:nvPr/>
        </p:nvSpPr>
        <p:spPr>
          <a:xfrm>
            <a:off x="-232171" y="3342530"/>
            <a:ext cx="12656343" cy="171450"/>
          </a:xfrm>
          <a:prstGeom prst="rect">
            <a:avLst/>
          </a:prstGeom>
          <a:noFill/>
        </p:spPr>
        <p:txBody>
          <a:bodyPr wrap="none" lIns="0" tIns="0" rIns="0" bIns="0" anchor="t">
            <a:spAutoFit/>
          </a:bodyPr>
          <a:lstStyle/>
          <a:p>
            <a:pPr algn="ctr"/>
            <a:r>
              <a:rPr sz="1050" b="0" i="0" u="none">
                <a:solidFill>
                  <a:srgbClr val="64748B"/>
                </a:solidFill>
                <a:latin typeface="Plus Jakarta Sans"/>
              </a:rPr>
              <a:t>Kết hợp khả năng xử lý cảm xúc hội thoại của VADER và độ nhạy ngữ nghĩa từ vựng của TextBlob</a:t>
            </a:r>
          </a:p>
        </p:txBody>
      </p:sp>
      <p:sp>
        <p:nvSpPr>
          <p:cNvPr id="14" name="TextBox 13"/>
          <p:cNvSpPr txBox="1"/>
          <p:nvPr/>
        </p:nvSpPr>
        <p:spPr>
          <a:xfrm>
            <a:off x="307967" y="4247405"/>
            <a:ext cx="4133915" cy="219075"/>
          </a:xfrm>
          <a:prstGeom prst="rect">
            <a:avLst/>
          </a:prstGeom>
          <a:noFill/>
        </p:spPr>
        <p:txBody>
          <a:bodyPr wrap="none" lIns="0" tIns="0" rIns="0" bIns="0" anchor="t">
            <a:spAutoFit/>
          </a:bodyPr>
          <a:lstStyle/>
          <a:p>
            <a:pPr algn="ctr"/>
            <a:r>
              <a:rPr sz="1350" b="1" i="0" u="none">
                <a:solidFill>
                  <a:srgbClr val="166534"/>
                </a:solidFill>
                <a:latin typeface="Plus Jakarta Sans"/>
              </a:rPr>
              <a:t>Tích Cực (Positive)</a:t>
            </a:r>
          </a:p>
        </p:txBody>
      </p:sp>
      <p:sp>
        <p:nvSpPr>
          <p:cNvPr id="15" name="TextBox 14"/>
          <p:cNvSpPr txBox="1"/>
          <p:nvPr/>
        </p:nvSpPr>
        <p:spPr>
          <a:xfrm>
            <a:off x="406393" y="4523630"/>
            <a:ext cx="3937062" cy="266700"/>
          </a:xfrm>
          <a:prstGeom prst="rect">
            <a:avLst/>
          </a:prstGeom>
          <a:noFill/>
        </p:spPr>
        <p:txBody>
          <a:bodyPr wrap="none" lIns="0" tIns="0" rIns="0" bIns="0" anchor="t">
            <a:spAutoFit/>
          </a:bodyPr>
          <a:lstStyle/>
          <a:p>
            <a:pPr algn="ctr"/>
            <a:r>
              <a:rPr sz="1650" b="1" i="0" u="none">
                <a:solidFill>
                  <a:srgbClr val="16A34A"/>
                </a:solidFill>
                <a:latin typeface="Space Grotesk"/>
              </a:rPr>
              <a:t>≥ +0.15</a:t>
            </a:r>
          </a:p>
        </p:txBody>
      </p:sp>
      <p:sp>
        <p:nvSpPr>
          <p:cNvPr id="16" name="TextBox 15"/>
          <p:cNvSpPr txBox="1"/>
          <p:nvPr/>
        </p:nvSpPr>
        <p:spPr>
          <a:xfrm>
            <a:off x="406393" y="4847480"/>
            <a:ext cx="3937062" cy="152400"/>
          </a:xfrm>
          <a:prstGeom prst="rect">
            <a:avLst/>
          </a:prstGeom>
          <a:noFill/>
        </p:spPr>
        <p:txBody>
          <a:bodyPr wrap="none" lIns="0" tIns="0" rIns="0" bIns="0" anchor="t">
            <a:spAutoFit/>
          </a:bodyPr>
          <a:lstStyle/>
          <a:p>
            <a:pPr algn="ctr"/>
            <a:r>
              <a:rPr sz="975" b="0" i="0" u="none">
                <a:solidFill>
                  <a:srgbClr val="4B5563"/>
                </a:solidFill>
                <a:latin typeface="Plus Jakarta Sans"/>
              </a:rPr>
              <a:t>Tín hiệu tăng trưởng, dự án mới</a:t>
            </a:r>
          </a:p>
        </p:txBody>
      </p:sp>
      <p:sp>
        <p:nvSpPr>
          <p:cNvPr id="17" name="TextBox 16"/>
          <p:cNvSpPr txBox="1"/>
          <p:nvPr/>
        </p:nvSpPr>
        <p:spPr>
          <a:xfrm>
            <a:off x="4029116" y="4247405"/>
            <a:ext cx="4133915" cy="219075"/>
          </a:xfrm>
          <a:prstGeom prst="rect">
            <a:avLst/>
          </a:prstGeom>
          <a:noFill/>
        </p:spPr>
        <p:txBody>
          <a:bodyPr wrap="none" lIns="0" tIns="0" rIns="0" bIns="0" anchor="t">
            <a:spAutoFit/>
          </a:bodyPr>
          <a:lstStyle/>
          <a:p>
            <a:pPr algn="ctr"/>
            <a:r>
              <a:rPr sz="1350" b="1" i="0" u="none">
                <a:solidFill>
                  <a:srgbClr val="334155"/>
                </a:solidFill>
                <a:latin typeface="Plus Jakarta Sans"/>
              </a:rPr>
              <a:t>Trung Lập (Neutral)</a:t>
            </a:r>
          </a:p>
        </p:txBody>
      </p:sp>
      <p:sp>
        <p:nvSpPr>
          <p:cNvPr id="18" name="TextBox 17"/>
          <p:cNvSpPr txBox="1"/>
          <p:nvPr/>
        </p:nvSpPr>
        <p:spPr>
          <a:xfrm>
            <a:off x="4127543" y="4523630"/>
            <a:ext cx="3937062" cy="266700"/>
          </a:xfrm>
          <a:prstGeom prst="rect">
            <a:avLst/>
          </a:prstGeom>
          <a:noFill/>
        </p:spPr>
        <p:txBody>
          <a:bodyPr wrap="none" lIns="0" tIns="0" rIns="0" bIns="0" anchor="t">
            <a:spAutoFit/>
          </a:bodyPr>
          <a:lstStyle/>
          <a:p>
            <a:pPr algn="ctr"/>
            <a:r>
              <a:rPr sz="1650" b="1" i="0" u="none">
                <a:solidFill>
                  <a:srgbClr val="64748B"/>
                </a:solidFill>
                <a:latin typeface="Space Grotesk"/>
              </a:rPr>
              <a:t>-0.15 &lt; S &lt; +0.15</a:t>
            </a:r>
          </a:p>
        </p:txBody>
      </p:sp>
      <p:sp>
        <p:nvSpPr>
          <p:cNvPr id="19" name="TextBox 18"/>
          <p:cNvSpPr txBox="1"/>
          <p:nvPr/>
        </p:nvSpPr>
        <p:spPr>
          <a:xfrm>
            <a:off x="4127543" y="4847480"/>
            <a:ext cx="3937062" cy="152400"/>
          </a:xfrm>
          <a:prstGeom prst="rect">
            <a:avLst/>
          </a:prstGeom>
          <a:noFill/>
        </p:spPr>
        <p:txBody>
          <a:bodyPr wrap="none" lIns="0" tIns="0" rIns="0" bIns="0" anchor="t">
            <a:spAutoFit/>
          </a:bodyPr>
          <a:lstStyle/>
          <a:p>
            <a:pPr algn="ctr"/>
            <a:r>
              <a:rPr sz="975" b="0" i="0" u="none">
                <a:solidFill>
                  <a:srgbClr val="4B5563"/>
                </a:solidFill>
                <a:latin typeface="Plus Jakarta Sans"/>
              </a:rPr>
              <a:t>Tin sự vụ, số liệu thống kê thuần</a:t>
            </a:r>
          </a:p>
        </p:txBody>
      </p:sp>
      <p:sp>
        <p:nvSpPr>
          <p:cNvPr id="20" name="TextBox 19"/>
          <p:cNvSpPr txBox="1"/>
          <p:nvPr/>
        </p:nvSpPr>
        <p:spPr>
          <a:xfrm>
            <a:off x="7750266" y="4247405"/>
            <a:ext cx="4133915" cy="219075"/>
          </a:xfrm>
          <a:prstGeom prst="rect">
            <a:avLst/>
          </a:prstGeom>
          <a:noFill/>
        </p:spPr>
        <p:txBody>
          <a:bodyPr wrap="none" lIns="0" tIns="0" rIns="0" bIns="0" anchor="t">
            <a:spAutoFit/>
          </a:bodyPr>
          <a:lstStyle/>
          <a:p>
            <a:pPr algn="ctr"/>
            <a:r>
              <a:rPr sz="1350" b="1" i="0" u="none">
                <a:solidFill>
                  <a:srgbClr val="991B1B"/>
                </a:solidFill>
                <a:latin typeface="Plus Jakarta Sans"/>
              </a:rPr>
              <a:t>Tiêu Cực (Negative)</a:t>
            </a:r>
          </a:p>
        </p:txBody>
      </p:sp>
      <p:sp>
        <p:nvSpPr>
          <p:cNvPr id="21" name="TextBox 20"/>
          <p:cNvSpPr txBox="1"/>
          <p:nvPr/>
        </p:nvSpPr>
        <p:spPr>
          <a:xfrm>
            <a:off x="7848693" y="4523630"/>
            <a:ext cx="3937062" cy="266700"/>
          </a:xfrm>
          <a:prstGeom prst="rect">
            <a:avLst/>
          </a:prstGeom>
          <a:noFill/>
        </p:spPr>
        <p:txBody>
          <a:bodyPr wrap="none" lIns="0" tIns="0" rIns="0" bIns="0" anchor="t">
            <a:spAutoFit/>
          </a:bodyPr>
          <a:lstStyle/>
          <a:p>
            <a:pPr algn="ctr"/>
            <a:r>
              <a:rPr sz="1650" b="1" i="0" u="none">
                <a:solidFill>
                  <a:srgbClr val="EF4444"/>
                </a:solidFill>
                <a:latin typeface="Space Grotesk"/>
              </a:rPr>
              <a:t>≤ -0.15</a:t>
            </a:r>
          </a:p>
        </p:txBody>
      </p:sp>
      <p:sp>
        <p:nvSpPr>
          <p:cNvPr id="22" name="TextBox 21"/>
          <p:cNvSpPr txBox="1"/>
          <p:nvPr/>
        </p:nvSpPr>
        <p:spPr>
          <a:xfrm>
            <a:off x="7848693" y="4847480"/>
            <a:ext cx="3937062" cy="152400"/>
          </a:xfrm>
          <a:prstGeom prst="rect">
            <a:avLst/>
          </a:prstGeom>
          <a:noFill/>
        </p:spPr>
        <p:txBody>
          <a:bodyPr wrap="none" lIns="0" tIns="0" rIns="0" bIns="0" anchor="t">
            <a:spAutoFit/>
          </a:bodyPr>
          <a:lstStyle/>
          <a:p>
            <a:pPr algn="ctr"/>
            <a:r>
              <a:rPr sz="975" b="0" i="0" u="none">
                <a:solidFill>
                  <a:srgbClr val="4B5563"/>
                </a:solidFill>
                <a:latin typeface="Plus Jakarta Sans"/>
              </a:rPr>
              <a:t>Rủi ro thị trường, biến động tiêu cực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550765"/>
            <a:ext cx="5591175" cy="2588716"/>
          </a:xfrm>
          <a:prstGeom prst="roundRect">
            <a:avLst>
              <a:gd name="adj" fmla="val 441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47725" y="4112865"/>
            <a:ext cx="5114925" cy="788491"/>
          </a:xfrm>
          <a:prstGeom prst="roundRect">
            <a:avLst>
              <a:gd name="adj" fmla="val 9664"/>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67475" y="2249685"/>
            <a:ext cx="5114925" cy="962025"/>
          </a:xfrm>
          <a:prstGeom prst="roundRect">
            <a:avLst>
              <a:gd name="adj" fmla="val 99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67475" y="3364110"/>
            <a:ext cx="5114925" cy="962025"/>
          </a:xfrm>
          <a:prstGeom prst="roundRect">
            <a:avLst>
              <a:gd name="adj" fmla="val 99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67475" y="4478535"/>
            <a:ext cx="5114925" cy="962025"/>
          </a:xfrm>
          <a:prstGeom prst="roundRect">
            <a:avLst>
              <a:gd name="adj" fmla="val 99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67475" y="2249685"/>
            <a:ext cx="38100" cy="9620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67475" y="3364110"/>
            <a:ext cx="38100" cy="96202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67475" y="4478535"/>
            <a:ext cx="38100" cy="96202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5848350" y="2788890"/>
            <a:ext cx="114300" cy="152400"/>
          </a:xfrm>
          <a:prstGeom prst="rect">
            <a:avLst/>
          </a:prstGeom>
        </p:spPr>
      </p:pic>
      <p:pic>
        <p:nvPicPr>
          <p:cNvPr id="11" name="Picture 10" descr="image.png"/>
          <p:cNvPicPr>
            <a:picLocks noChangeAspect="1"/>
          </p:cNvPicPr>
          <p:nvPr/>
        </p:nvPicPr>
        <p:blipFill>
          <a:blip r:embed="rId3"/>
          <a:stretch>
            <a:fillRect/>
          </a:stretch>
        </p:blipFill>
        <p:spPr>
          <a:xfrm>
            <a:off x="3338512" y="3598515"/>
            <a:ext cx="133350" cy="171450"/>
          </a:xfrm>
          <a:prstGeom prst="rect">
            <a:avLst/>
          </a:prstGeom>
        </p:spPr>
      </p:pic>
      <p:sp>
        <p:nvSpPr>
          <p:cNvPr id="12" name="TextBox 11"/>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GENERATIVE AI</a:t>
            </a:r>
          </a:p>
        </p:txBody>
      </p:sp>
      <p:sp>
        <p:nvSpPr>
          <p:cNvPr id="13" name="TextBox 12"/>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Trợ Lý Tóm Tắt Điều Hành Với Gemini 1.5 Flash</a:t>
            </a:r>
          </a:p>
        </p:txBody>
      </p:sp>
      <p:sp>
        <p:nvSpPr>
          <p:cNvPr id="14" name="TextBox 13"/>
          <p:cNvSpPr txBox="1"/>
          <p:nvPr/>
        </p:nvSpPr>
        <p:spPr>
          <a:xfrm>
            <a:off x="847725" y="3055590"/>
            <a:ext cx="5210175" cy="371475"/>
          </a:xfrm>
          <a:prstGeom prst="rect">
            <a:avLst/>
          </a:prstGeom>
          <a:noFill/>
        </p:spPr>
        <p:txBody>
          <a:bodyPr wrap="square" lIns="0" tIns="0" rIns="0" bIns="0" anchor="t">
            <a:spAutoFit/>
          </a:bodyPr>
          <a:lstStyle/>
          <a:p>
            <a:pPr algn="l">
              <a:lnSpc>
                <a:spcPts val="1462"/>
              </a:lnSpc>
            </a:pPr>
            <a:r>
              <a:rPr sz="975" b="0" i="1" u="none">
                <a:solidFill>
                  <a:srgbClr val="64748B"/>
                </a:solidFill>
                <a:latin typeface="Plus Jakarta Sans"/>
              </a:rPr>
              <a:t>"Sáng nay tại diễn đàn kinh tế, các chuyên gia thảo luận sâu về việc giải ngân vốn đầu tư công, giải quyết vướng mắc thủ tục hành chính, cải thiện môi trường đầu tư..."</a:t>
            </a:r>
          </a:p>
        </p:txBody>
      </p:sp>
      <p:sp>
        <p:nvSpPr>
          <p:cNvPr id="15" name="TextBox 14"/>
          <p:cNvSpPr txBox="1"/>
          <p:nvPr/>
        </p:nvSpPr>
        <p:spPr>
          <a:xfrm>
            <a:off x="962025" y="4227165"/>
            <a:ext cx="4981575" cy="559891"/>
          </a:xfrm>
          <a:prstGeom prst="rect">
            <a:avLst/>
          </a:prstGeom>
          <a:noFill/>
        </p:spPr>
        <p:txBody>
          <a:bodyPr wrap="square" lIns="0" tIns="0" rIns="0" bIns="0" anchor="t">
            <a:spAutoFit/>
          </a:bodyPr>
          <a:lstStyle/>
          <a:p>
            <a:pPr algn="l">
              <a:lnSpc>
                <a:spcPts val="1470"/>
              </a:lnSpc>
            </a:pPr>
            <a:r>
              <a:rPr sz="1050" b="1" i="0" u="none">
                <a:solidFill>
                  <a:srgbClr val="0F172A"/>
                </a:solidFill>
                <a:latin typeface="Plus Jakarta Sans"/>
              </a:rPr>
              <a:t>Chính phủ đẩy mạnh giải ngân vốn đầu tư công quý 4 nhằm đạt mục tiêu tăng trưởng GDP. Doanh nghiệp kỳ vọng các nút thắt về thủ tục sẽ sớm được tháo gỡ.</a:t>
            </a:r>
          </a:p>
        </p:txBody>
      </p:sp>
      <p:sp>
        <p:nvSpPr>
          <p:cNvPr id="16" name="TextBox 15"/>
          <p:cNvSpPr txBox="1"/>
          <p:nvPr/>
        </p:nvSpPr>
        <p:spPr>
          <a:xfrm>
            <a:off x="847725" y="2793652"/>
            <a:ext cx="1654968" cy="142875"/>
          </a:xfrm>
          <a:prstGeom prst="rect">
            <a:avLst/>
          </a:prstGeom>
          <a:noFill/>
        </p:spPr>
        <p:txBody>
          <a:bodyPr wrap="none" lIns="0" tIns="0" rIns="0" bIns="0" anchor="t">
            <a:spAutoFit/>
          </a:bodyPr>
          <a:lstStyle/>
          <a:p>
            <a:pPr algn="l"/>
            <a:r>
              <a:rPr sz="900" b="1" i="0" u="none">
                <a:solidFill>
                  <a:srgbClr val="64748B"/>
                </a:solidFill>
                <a:latin typeface="Plus Jakarta Sans"/>
              </a:rPr>
              <a:t>VĂN BẢN THÔ (800 TỪ)</a:t>
            </a:r>
          </a:p>
        </p:txBody>
      </p:sp>
      <p:sp>
        <p:nvSpPr>
          <p:cNvPr id="17" name="TextBox 16"/>
          <p:cNvSpPr txBox="1"/>
          <p:nvPr/>
        </p:nvSpPr>
        <p:spPr>
          <a:xfrm>
            <a:off x="847725" y="3893790"/>
            <a:ext cx="2559843" cy="142875"/>
          </a:xfrm>
          <a:prstGeom prst="rect">
            <a:avLst/>
          </a:prstGeom>
          <a:noFill/>
        </p:spPr>
        <p:txBody>
          <a:bodyPr wrap="none" lIns="0" tIns="0" rIns="0" bIns="0" anchor="t">
            <a:spAutoFit/>
          </a:bodyPr>
          <a:lstStyle/>
          <a:p>
            <a:pPr algn="l"/>
            <a:r>
              <a:rPr sz="900" b="1" i="0" u="none">
                <a:solidFill>
                  <a:srgbClr val="0284C7"/>
                </a:solidFill>
                <a:latin typeface="Plus Jakarta Sans"/>
              </a:rPr>
              <a:t>TÓM TẮT ĐIỀU HÀNH GEMINI (2 CÂU)</a:t>
            </a:r>
          </a:p>
        </p:txBody>
      </p:sp>
      <p:sp>
        <p:nvSpPr>
          <p:cNvPr id="18" name="TextBox 17"/>
          <p:cNvSpPr txBox="1"/>
          <p:nvPr/>
        </p:nvSpPr>
        <p:spPr>
          <a:xfrm>
            <a:off x="6696075" y="2440185"/>
            <a:ext cx="5495925" cy="200025"/>
          </a:xfrm>
          <a:prstGeom prst="rect">
            <a:avLst/>
          </a:prstGeom>
          <a:noFill/>
        </p:spPr>
        <p:txBody>
          <a:bodyPr wrap="none" lIns="0" tIns="0" rIns="0" bIns="0" anchor="t">
            <a:spAutoFit/>
          </a:bodyPr>
          <a:lstStyle/>
          <a:p>
            <a:pPr algn="l"/>
            <a:r>
              <a:rPr sz="1200" b="1" i="0" u="none">
                <a:solidFill>
                  <a:srgbClr val="0F172A"/>
                </a:solidFill>
                <a:latin typeface="Plus Jakarta Sans"/>
              </a:rPr>
              <a:t>Tối Ưu Chi Phí &amp; Độ Trễ</a:t>
            </a:r>
          </a:p>
        </p:txBody>
      </p:sp>
      <p:sp>
        <p:nvSpPr>
          <p:cNvPr id="19" name="TextBox 18"/>
          <p:cNvSpPr txBox="1"/>
          <p:nvPr/>
        </p:nvSpPr>
        <p:spPr>
          <a:xfrm>
            <a:off x="6696075" y="2678310"/>
            <a:ext cx="4791075" cy="342900"/>
          </a:xfrm>
          <a:prstGeom prst="rect">
            <a:avLst/>
          </a:prstGeom>
          <a:noFill/>
        </p:spPr>
        <p:txBody>
          <a:bodyPr wrap="square" lIns="0" tIns="0" rIns="0" bIns="0" anchor="t">
            <a:spAutoFit/>
          </a:bodyPr>
          <a:lstStyle/>
          <a:p>
            <a:pPr algn="l"/>
            <a:r>
              <a:rPr sz="1050" b="0" i="0" u="none">
                <a:solidFill>
                  <a:srgbClr val="475569"/>
                </a:solidFill>
                <a:latin typeface="Plus Jakarta Sans"/>
              </a:rPr>
              <a:t>Gemini 1.5 Flash mang lại tốc độ phản hồi tính bằng mili-giây với chi phí token tối thiểu.</a:t>
            </a:r>
          </a:p>
        </p:txBody>
      </p:sp>
      <p:sp>
        <p:nvSpPr>
          <p:cNvPr id="20" name="TextBox 19"/>
          <p:cNvSpPr txBox="1"/>
          <p:nvPr/>
        </p:nvSpPr>
        <p:spPr>
          <a:xfrm>
            <a:off x="6696075" y="3554610"/>
            <a:ext cx="5495925" cy="200025"/>
          </a:xfrm>
          <a:prstGeom prst="rect">
            <a:avLst/>
          </a:prstGeom>
          <a:noFill/>
        </p:spPr>
        <p:txBody>
          <a:bodyPr wrap="none" lIns="0" tIns="0" rIns="0" bIns="0" anchor="t">
            <a:spAutoFit/>
          </a:bodyPr>
          <a:lstStyle/>
          <a:p>
            <a:pPr algn="l"/>
            <a:r>
              <a:rPr sz="1200" b="1" i="0" u="none">
                <a:solidFill>
                  <a:srgbClr val="0F172A"/>
                </a:solidFill>
                <a:latin typeface="Plus Jakarta Sans"/>
              </a:rPr>
              <a:t>Cơ Chế Fallback Dự Phòng</a:t>
            </a:r>
          </a:p>
        </p:txBody>
      </p:sp>
      <p:sp>
        <p:nvSpPr>
          <p:cNvPr id="21" name="TextBox 20"/>
          <p:cNvSpPr txBox="1"/>
          <p:nvPr/>
        </p:nvSpPr>
        <p:spPr>
          <a:xfrm>
            <a:off x="6696075" y="3792735"/>
            <a:ext cx="4791075" cy="342900"/>
          </a:xfrm>
          <a:prstGeom prst="rect">
            <a:avLst/>
          </a:prstGeom>
          <a:noFill/>
        </p:spPr>
        <p:txBody>
          <a:bodyPr wrap="square" lIns="0" tIns="0" rIns="0" bIns="0" anchor="t">
            <a:spAutoFit/>
          </a:bodyPr>
          <a:lstStyle/>
          <a:p>
            <a:pPr algn="l"/>
            <a:r>
              <a:rPr sz="1050" b="0" i="0" u="none">
                <a:solidFill>
                  <a:srgbClr val="475569"/>
                </a:solidFill>
                <a:latin typeface="Plus Jakarta Sans"/>
              </a:rPr>
              <a:t>Tự động chuyển sang trích xuất câu chủ đề cục bộ (Extractive heuristic) khi mạng gián đoạn.</a:t>
            </a:r>
          </a:p>
        </p:txBody>
      </p:sp>
      <p:sp>
        <p:nvSpPr>
          <p:cNvPr id="22" name="TextBox 21"/>
          <p:cNvSpPr txBox="1"/>
          <p:nvPr/>
        </p:nvSpPr>
        <p:spPr>
          <a:xfrm>
            <a:off x="6696075" y="4669035"/>
            <a:ext cx="5495925" cy="200025"/>
          </a:xfrm>
          <a:prstGeom prst="rect">
            <a:avLst/>
          </a:prstGeom>
          <a:noFill/>
        </p:spPr>
        <p:txBody>
          <a:bodyPr wrap="none" lIns="0" tIns="0" rIns="0" bIns="0" anchor="t">
            <a:spAutoFit/>
          </a:bodyPr>
          <a:lstStyle/>
          <a:p>
            <a:pPr algn="l"/>
            <a:r>
              <a:rPr sz="1200" b="1" i="0" u="none">
                <a:solidFill>
                  <a:srgbClr val="0F172A"/>
                </a:solidFill>
                <a:latin typeface="Plus Jakarta Sans"/>
              </a:rPr>
              <a:t>Prompt Engineering Tiếng Việt</a:t>
            </a:r>
          </a:p>
        </p:txBody>
      </p:sp>
      <p:sp>
        <p:nvSpPr>
          <p:cNvPr id="23" name="TextBox 22"/>
          <p:cNvSpPr txBox="1"/>
          <p:nvPr/>
        </p:nvSpPr>
        <p:spPr>
          <a:xfrm>
            <a:off x="6696075" y="4907160"/>
            <a:ext cx="4791075" cy="342900"/>
          </a:xfrm>
          <a:prstGeom prst="rect">
            <a:avLst/>
          </a:prstGeom>
          <a:noFill/>
        </p:spPr>
        <p:txBody>
          <a:bodyPr wrap="square" lIns="0" tIns="0" rIns="0" bIns="0" anchor="t">
            <a:spAutoFit/>
          </a:bodyPr>
          <a:lstStyle/>
          <a:p>
            <a:pPr algn="l"/>
            <a:r>
              <a:rPr sz="1050" b="0" i="0" u="none">
                <a:solidFill>
                  <a:srgbClr val="475569"/>
                </a:solidFill>
                <a:latin typeface="Plus Jakarta Sans"/>
              </a:rPr>
              <a:t>Cấu trúc chuẩn hóa đảm bảo đầu ra khách quan, chính xác và không sinh thông tin giả (hallucination).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359223"/>
            <a:ext cx="6236791" cy="2971800"/>
          </a:xfrm>
          <a:prstGeom prst="roundRect">
            <a:avLst>
              <a:gd name="adj" fmla="val 38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151191" y="2752725"/>
            <a:ext cx="4431208" cy="1011435"/>
          </a:xfrm>
          <a:prstGeom prst="roundRect">
            <a:avLst>
              <a:gd name="adj" fmla="val 9417"/>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51191" y="3916560"/>
            <a:ext cx="4431208" cy="1020960"/>
          </a:xfrm>
          <a:prstGeom prst="roundRect">
            <a:avLst>
              <a:gd name="adj" fmla="val 93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847725" y="2921198"/>
            <a:ext cx="5760541" cy="1905000"/>
          </a:xfrm>
          <a:prstGeom prst="rect">
            <a:avLst/>
          </a:prstGeom>
        </p:spPr>
      </p:pic>
      <p:sp>
        <p:nvSpPr>
          <p:cNvPr id="6" name="TextBox 5"/>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PREDICTIVE ANALYTICS</a:t>
            </a:r>
          </a:p>
        </p:txBody>
      </p:sp>
      <p:sp>
        <p:nvSpPr>
          <p:cNvPr id="7" name="TextBox 6"/>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Mô Hình Dự Báo Lượng Tin 7 Ngày Tới</a:t>
            </a:r>
          </a:p>
        </p:txBody>
      </p:sp>
      <p:sp>
        <p:nvSpPr>
          <p:cNvPr id="8" name="TextBox 7"/>
          <p:cNvSpPr txBox="1"/>
          <p:nvPr/>
        </p:nvSpPr>
        <p:spPr>
          <a:xfrm>
            <a:off x="847725" y="2597348"/>
            <a:ext cx="3762375" cy="171450"/>
          </a:xfrm>
          <a:prstGeom prst="rect">
            <a:avLst/>
          </a:prstGeom>
          <a:noFill/>
        </p:spPr>
        <p:txBody>
          <a:bodyPr wrap="none" lIns="0" tIns="0" rIns="0" bIns="0" anchor="t">
            <a:spAutoFit/>
          </a:bodyPr>
          <a:lstStyle/>
          <a:p>
            <a:pPr algn="l"/>
            <a:r>
              <a:rPr sz="1050" b="1" i="0" u="none">
                <a:solidFill>
                  <a:srgbClr val="0F172A"/>
                </a:solidFill>
                <a:latin typeface="Plus Jakarta Sans"/>
              </a:rPr>
              <a:t>Lượng tin tức: Dữ liệu thực tế &amp; Đường xu hướng</a:t>
            </a:r>
          </a:p>
        </p:txBody>
      </p:sp>
      <p:sp>
        <p:nvSpPr>
          <p:cNvPr id="9" name="TextBox 8"/>
          <p:cNvSpPr txBox="1"/>
          <p:nvPr/>
        </p:nvSpPr>
        <p:spPr>
          <a:xfrm>
            <a:off x="6151066" y="2611635"/>
            <a:ext cx="742950" cy="142875"/>
          </a:xfrm>
          <a:prstGeom prst="rect">
            <a:avLst/>
          </a:prstGeom>
          <a:noFill/>
        </p:spPr>
        <p:txBody>
          <a:bodyPr wrap="none" lIns="0" tIns="0" rIns="0" bIns="0" anchor="t">
            <a:spAutoFit/>
          </a:bodyPr>
          <a:lstStyle/>
          <a:p>
            <a:pPr algn="l"/>
            <a:r>
              <a:rPr sz="900" b="0" i="0" u="none">
                <a:solidFill>
                  <a:srgbClr val="64748B"/>
                </a:solidFill>
                <a:latin typeface="Plus Jakarta Sans"/>
              </a:rPr>
              <a:t>R² = 0.81</a:t>
            </a:r>
          </a:p>
        </p:txBody>
      </p:sp>
      <p:sp>
        <p:nvSpPr>
          <p:cNvPr id="10" name="TextBox 9"/>
          <p:cNvSpPr txBox="1"/>
          <p:nvPr/>
        </p:nvSpPr>
        <p:spPr>
          <a:xfrm>
            <a:off x="7351216" y="2952750"/>
            <a:ext cx="4840783" cy="180975"/>
          </a:xfrm>
          <a:prstGeom prst="rect">
            <a:avLst/>
          </a:prstGeom>
          <a:noFill/>
        </p:spPr>
        <p:txBody>
          <a:bodyPr wrap="none" lIns="0" tIns="0" rIns="0" bIns="0" anchor="t">
            <a:spAutoFit/>
          </a:bodyPr>
          <a:lstStyle/>
          <a:p>
            <a:pPr algn="l"/>
            <a:r>
              <a:rPr sz="1125" b="1" i="0" u="none">
                <a:solidFill>
                  <a:srgbClr val="92400E"/>
                </a:solidFill>
                <a:latin typeface="Plus Jakarta Sans"/>
              </a:rPr>
              <a:t>Ứng Dụng Nghiệp Vụ</a:t>
            </a:r>
          </a:p>
        </p:txBody>
      </p:sp>
      <p:sp>
        <p:nvSpPr>
          <p:cNvPr id="11" name="TextBox 10"/>
          <p:cNvSpPr txBox="1"/>
          <p:nvPr/>
        </p:nvSpPr>
        <p:spPr>
          <a:xfrm>
            <a:off x="7351216" y="3190875"/>
            <a:ext cx="4126408" cy="373260"/>
          </a:xfrm>
          <a:prstGeom prst="rect">
            <a:avLst/>
          </a:prstGeom>
          <a:noFill/>
        </p:spPr>
        <p:txBody>
          <a:bodyPr wrap="square" lIns="0" tIns="0" rIns="0" bIns="0" anchor="t">
            <a:spAutoFit/>
          </a:bodyPr>
          <a:lstStyle/>
          <a:p>
            <a:pPr algn="l">
              <a:lnSpc>
                <a:spcPts val="1470"/>
              </a:lnSpc>
            </a:pPr>
            <a:r>
              <a:rPr sz="1050" b="0" i="0" u="none">
                <a:solidFill>
                  <a:srgbClr val="451A03"/>
                </a:solidFill>
                <a:latin typeface="Plus Jakarta Sans"/>
              </a:rPr>
              <a:t>Giúp các nhà phân tích dự báo trước mức độ nóng của truyền thông để chủ động phân bổ nguồn lực theo dõi.</a:t>
            </a:r>
          </a:p>
        </p:txBody>
      </p:sp>
      <p:sp>
        <p:nvSpPr>
          <p:cNvPr id="12" name="TextBox 11"/>
          <p:cNvSpPr txBox="1"/>
          <p:nvPr/>
        </p:nvSpPr>
        <p:spPr>
          <a:xfrm>
            <a:off x="7351216" y="4116585"/>
            <a:ext cx="4840783" cy="180975"/>
          </a:xfrm>
          <a:prstGeom prst="rect">
            <a:avLst/>
          </a:prstGeom>
          <a:noFill/>
        </p:spPr>
        <p:txBody>
          <a:bodyPr wrap="none" lIns="0" tIns="0" rIns="0" bIns="0" anchor="t">
            <a:spAutoFit/>
          </a:bodyPr>
          <a:lstStyle/>
          <a:p>
            <a:pPr algn="l"/>
            <a:r>
              <a:rPr sz="1125" b="1" i="0" u="none">
                <a:solidFill>
                  <a:srgbClr val="0F172A"/>
                </a:solidFill>
                <a:latin typeface="Plus Jakarta Sans"/>
              </a:rPr>
              <a:t>Tự Động Hóa Cập Nhật</a:t>
            </a:r>
          </a:p>
        </p:txBody>
      </p:sp>
      <p:sp>
        <p:nvSpPr>
          <p:cNvPr id="13" name="TextBox 12"/>
          <p:cNvSpPr txBox="1"/>
          <p:nvPr/>
        </p:nvSpPr>
        <p:spPr>
          <a:xfrm>
            <a:off x="7351216" y="4354710"/>
            <a:ext cx="4126408" cy="382785"/>
          </a:xfrm>
          <a:prstGeom prst="rect">
            <a:avLst/>
          </a:prstGeom>
          <a:noFill/>
        </p:spPr>
        <p:txBody>
          <a:bodyPr wrap="square" lIns="0" tIns="0" rIns="0" bIns="0" anchor="t">
            <a:spAutoFit/>
          </a:bodyPr>
          <a:lstStyle/>
          <a:p>
            <a:pPr algn="l">
              <a:lnSpc>
                <a:spcPts val="1470"/>
              </a:lnSpc>
            </a:pPr>
            <a:r>
              <a:rPr sz="1050" b="0" i="0" u="none">
                <a:solidFill>
                  <a:srgbClr val="475569"/>
                </a:solidFill>
                <a:latin typeface="Plus Jakarta Sans"/>
              </a:rPr>
              <a:t>Mô hình chạy lại định kỳ vào cuối ngày, tự động nạp kết quả mới vào bảng </a:t>
            </a:r>
            <a:r>
              <a:rPr sz="1050" b="0" i="0" u="none">
                <a:solidFill>
                  <a:srgbClr val="0284C7"/>
                </a:solidFill>
                <a:latin typeface="Plus Jakarta Sans"/>
              </a:rPr>
              <a:t>news_volume_forecast</a:t>
            </a:r>
            <a:r>
              <a:rPr sz="1050" b="0" i="0" u="none">
                <a:solidFill>
                  <a:srgbClr val="475569"/>
                </a:solidFill>
                <a:latin typeface="Plus Jakarta Sans"/>
              </a:rPr>
              <a:t>.</a:t>
            </a:r>
          </a:p>
        </p:txBody>
      </p:sp>
      <p:sp>
        <p:nvSpPr>
          <p:cNvPr id="14" name="TextBox 13"/>
          <p:cNvSpPr txBox="1"/>
          <p:nvPr/>
        </p:nvSpPr>
        <p:spPr>
          <a:xfrm>
            <a:off x="2089695" y="4940498"/>
            <a:ext cx="1057275" cy="152400"/>
          </a:xfrm>
          <a:prstGeom prst="rect">
            <a:avLst/>
          </a:prstGeom>
          <a:noFill/>
        </p:spPr>
        <p:txBody>
          <a:bodyPr wrap="none" lIns="0" tIns="0" rIns="0" bIns="0" anchor="t">
            <a:spAutoFit/>
          </a:bodyPr>
          <a:lstStyle/>
          <a:p>
            <a:pPr algn="l"/>
            <a:r>
              <a:rPr sz="975" b="0" i="0" u="none">
                <a:solidFill>
                  <a:srgbClr val="475569"/>
                </a:solidFill>
                <a:latin typeface="Plus Jakarta Sans"/>
              </a:rPr>
              <a:t>Dữ liệu lịch sử</a:t>
            </a:r>
          </a:p>
        </p:txBody>
      </p:sp>
      <p:sp>
        <p:nvSpPr>
          <p:cNvPr id="15" name="TextBox 14"/>
          <p:cNvSpPr txBox="1"/>
          <p:nvPr/>
        </p:nvSpPr>
        <p:spPr>
          <a:xfrm>
            <a:off x="3280320" y="4940498"/>
            <a:ext cx="2845593" cy="152400"/>
          </a:xfrm>
          <a:prstGeom prst="rect">
            <a:avLst/>
          </a:prstGeom>
          <a:noFill/>
        </p:spPr>
        <p:txBody>
          <a:bodyPr wrap="none" lIns="0" tIns="0" rIns="0" bIns="0" anchor="t">
            <a:spAutoFit/>
          </a:bodyPr>
          <a:lstStyle/>
          <a:p>
            <a:pPr algn="l"/>
            <a:r>
              <a:rPr sz="975" b="0" i="0" u="none">
                <a:solidFill>
                  <a:srgbClr val="475569"/>
                </a:solidFill>
                <a:latin typeface="Plus Jakarta Sans"/>
              </a:rPr>
              <a:t>Dự phóng 7 ngày tới (Linear Regression)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129462" y="2411610"/>
            <a:ext cx="4452937" cy="923925"/>
          </a:xfrm>
          <a:prstGeom prst="roundRect">
            <a:avLst>
              <a:gd name="adj" fmla="val 103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129462" y="3468885"/>
            <a:ext cx="4452937" cy="923925"/>
          </a:xfrm>
          <a:prstGeom prst="roundRect">
            <a:avLst>
              <a:gd name="adj" fmla="val 103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129462" y="4526160"/>
            <a:ext cx="4452937" cy="752475"/>
          </a:xfrm>
          <a:prstGeom prst="roundRect">
            <a:avLst>
              <a:gd name="adj" fmla="val 126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129462" y="2411610"/>
            <a:ext cx="38100" cy="9239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129462" y="3468885"/>
            <a:ext cx="38100" cy="92392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129462" y="4526160"/>
            <a:ext cx="38100" cy="75247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609600" y="2035373"/>
            <a:ext cx="6253162" cy="3619500"/>
          </a:xfrm>
          <a:prstGeom prst="rect">
            <a:avLst/>
          </a:prstGeom>
        </p:spPr>
      </p:pic>
      <p:pic>
        <p:nvPicPr>
          <p:cNvPr id="9" name="Picture 8" descr="image.png"/>
          <p:cNvPicPr>
            <a:picLocks noChangeAspect="1"/>
          </p:cNvPicPr>
          <p:nvPr/>
        </p:nvPicPr>
        <p:blipFill>
          <a:blip r:embed="rId3"/>
          <a:stretch>
            <a:fillRect/>
          </a:stretch>
        </p:blipFill>
        <p:spPr>
          <a:xfrm>
            <a:off x="619125" y="2044898"/>
            <a:ext cx="6234112" cy="3600450"/>
          </a:xfrm>
          <a:prstGeom prst="rect">
            <a:avLst/>
          </a:prstGeom>
        </p:spPr>
      </p:pic>
      <p:sp>
        <p:nvSpPr>
          <p:cNvPr id="10" name="TextBox 9"/>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BI DASHBOARD</a:t>
            </a:r>
          </a:p>
        </p:txBody>
      </p:sp>
      <p:sp>
        <p:nvSpPr>
          <p:cNvPr id="11" name="TextBox 10"/>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Trực Quan Hóa Trên Apache Superset (Port 8088)</a:t>
            </a:r>
          </a:p>
        </p:txBody>
      </p:sp>
      <p:sp>
        <p:nvSpPr>
          <p:cNvPr id="12" name="TextBox 11"/>
          <p:cNvSpPr txBox="1"/>
          <p:nvPr/>
        </p:nvSpPr>
        <p:spPr>
          <a:xfrm>
            <a:off x="7339012" y="2583060"/>
            <a:ext cx="4852987" cy="200025"/>
          </a:xfrm>
          <a:prstGeom prst="rect">
            <a:avLst/>
          </a:prstGeom>
          <a:noFill/>
        </p:spPr>
        <p:txBody>
          <a:bodyPr wrap="none" lIns="0" tIns="0" rIns="0" bIns="0" anchor="t">
            <a:spAutoFit/>
          </a:bodyPr>
          <a:lstStyle/>
          <a:p>
            <a:pPr algn="l"/>
            <a:r>
              <a:rPr sz="1200" b="1" i="0" u="none">
                <a:solidFill>
                  <a:srgbClr val="0F172A"/>
                </a:solidFill>
                <a:latin typeface="Plus Jakarta Sans"/>
              </a:rPr>
              <a:t>Liên Thông Bộ Lọc</a:t>
            </a:r>
          </a:p>
        </p:txBody>
      </p:sp>
      <p:sp>
        <p:nvSpPr>
          <p:cNvPr id="13" name="TextBox 12"/>
          <p:cNvSpPr txBox="1"/>
          <p:nvPr/>
        </p:nvSpPr>
        <p:spPr>
          <a:xfrm>
            <a:off x="7339012" y="2821185"/>
            <a:ext cx="4167187" cy="342900"/>
          </a:xfrm>
          <a:prstGeom prst="rect">
            <a:avLst/>
          </a:prstGeom>
          <a:noFill/>
        </p:spPr>
        <p:txBody>
          <a:bodyPr wrap="square" lIns="0" tIns="0" rIns="0" bIns="0" anchor="t">
            <a:spAutoFit/>
          </a:bodyPr>
          <a:lstStyle/>
          <a:p>
            <a:pPr algn="l"/>
            <a:r>
              <a:rPr sz="1050" b="0" i="0" u="none">
                <a:solidFill>
                  <a:srgbClr val="64748B"/>
                </a:solidFill>
                <a:latin typeface="Plus Jakarta Sans"/>
              </a:rPr>
              <a:t>Chọn 1 chủ đề, lập tức cập nhật đồng bộ toàn bộ 8 biểu đồ theo thời gian thực.</a:t>
            </a:r>
          </a:p>
        </p:txBody>
      </p:sp>
      <p:sp>
        <p:nvSpPr>
          <p:cNvPr id="14" name="TextBox 13"/>
          <p:cNvSpPr txBox="1"/>
          <p:nvPr/>
        </p:nvSpPr>
        <p:spPr>
          <a:xfrm>
            <a:off x="7339012" y="3640335"/>
            <a:ext cx="4852987" cy="200025"/>
          </a:xfrm>
          <a:prstGeom prst="rect">
            <a:avLst/>
          </a:prstGeom>
          <a:noFill/>
        </p:spPr>
        <p:txBody>
          <a:bodyPr wrap="none" lIns="0" tIns="0" rIns="0" bIns="0" anchor="t">
            <a:spAutoFit/>
          </a:bodyPr>
          <a:lstStyle/>
          <a:p>
            <a:pPr algn="l"/>
            <a:r>
              <a:rPr sz="1200" b="1" i="0" u="none">
                <a:solidFill>
                  <a:srgbClr val="0F172A"/>
                </a:solidFill>
                <a:latin typeface="Plus Jakarta Sans"/>
              </a:rPr>
              <a:t>Khoảng Thời Gian Động</a:t>
            </a:r>
          </a:p>
        </p:txBody>
      </p:sp>
      <p:sp>
        <p:nvSpPr>
          <p:cNvPr id="15" name="TextBox 14"/>
          <p:cNvSpPr txBox="1"/>
          <p:nvPr/>
        </p:nvSpPr>
        <p:spPr>
          <a:xfrm>
            <a:off x="7339012" y="3878460"/>
            <a:ext cx="4167187" cy="342900"/>
          </a:xfrm>
          <a:prstGeom prst="rect">
            <a:avLst/>
          </a:prstGeom>
          <a:noFill/>
        </p:spPr>
        <p:txBody>
          <a:bodyPr wrap="square" lIns="0" tIns="0" rIns="0" bIns="0" anchor="t">
            <a:spAutoFit/>
          </a:bodyPr>
          <a:lstStyle/>
          <a:p>
            <a:pPr algn="l"/>
            <a:r>
              <a:rPr sz="1050" b="0" i="0" u="none">
                <a:solidFill>
                  <a:srgbClr val="64748B"/>
                </a:solidFill>
                <a:latin typeface="Plus Jakarta Sans"/>
              </a:rPr>
              <a:t>Tùy chỉnh linh hoạt: Hôm nay, 7 ngày qua, 30 ngày qua hoặc dải ngày tùy chọn.</a:t>
            </a:r>
          </a:p>
        </p:txBody>
      </p:sp>
      <p:sp>
        <p:nvSpPr>
          <p:cNvPr id="16" name="TextBox 15"/>
          <p:cNvSpPr txBox="1"/>
          <p:nvPr/>
        </p:nvSpPr>
        <p:spPr>
          <a:xfrm>
            <a:off x="7339012" y="4697610"/>
            <a:ext cx="4852987" cy="200025"/>
          </a:xfrm>
          <a:prstGeom prst="rect">
            <a:avLst/>
          </a:prstGeom>
          <a:noFill/>
        </p:spPr>
        <p:txBody>
          <a:bodyPr wrap="none" lIns="0" tIns="0" rIns="0" bIns="0" anchor="t">
            <a:spAutoFit/>
          </a:bodyPr>
          <a:lstStyle/>
          <a:p>
            <a:pPr algn="l"/>
            <a:r>
              <a:rPr sz="1200" b="1" i="0" u="none">
                <a:solidFill>
                  <a:srgbClr val="0F172A"/>
                </a:solidFill>
                <a:latin typeface="Plus Jakarta Sans"/>
              </a:rPr>
              <a:t>Đa Nguồn Báo Chí</a:t>
            </a:r>
          </a:p>
        </p:txBody>
      </p:sp>
      <p:sp>
        <p:nvSpPr>
          <p:cNvPr id="17" name="TextBox 16"/>
          <p:cNvSpPr txBox="1"/>
          <p:nvPr/>
        </p:nvSpPr>
        <p:spPr>
          <a:xfrm>
            <a:off x="7339012" y="4935735"/>
            <a:ext cx="4852987" cy="171450"/>
          </a:xfrm>
          <a:prstGeom prst="rect">
            <a:avLst/>
          </a:prstGeom>
          <a:noFill/>
        </p:spPr>
        <p:txBody>
          <a:bodyPr wrap="none" lIns="0" tIns="0" rIns="0" bIns="0" anchor="t">
            <a:spAutoFit/>
          </a:bodyPr>
          <a:lstStyle/>
          <a:p>
            <a:pPr algn="l"/>
            <a:r>
              <a:rPr sz="1050" b="0" i="0" u="none">
                <a:solidFill>
                  <a:srgbClr val="64748B"/>
                </a:solidFill>
                <a:latin typeface="Plus Jakarta Sans"/>
              </a:rPr>
              <a:t>Lọc theo nguồn tin lớn: VnExpress, Tuổi Trẻ, Dân Trí, VietnamNet.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043410"/>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90900" y="2043410"/>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72200" y="2043410"/>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53500" y="2043410"/>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675286"/>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90900" y="4675286"/>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72200" y="4675286"/>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953500" y="4675286"/>
            <a:ext cx="2628900" cy="971550"/>
          </a:xfrm>
          <a:prstGeom prst="roundRect">
            <a:avLst>
              <a:gd name="adj" fmla="val 98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614487" y="2233910"/>
            <a:ext cx="61912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6262" y="2233910"/>
            <a:ext cx="63817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167562" y="2233910"/>
            <a:ext cx="63817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944100" y="2233910"/>
            <a:ext cx="647700"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604962" y="4865786"/>
            <a:ext cx="63817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86262" y="4865786"/>
            <a:ext cx="63817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67562" y="4865786"/>
            <a:ext cx="638175"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944100" y="4865786"/>
            <a:ext cx="647700" cy="180975"/>
          </a:xfrm>
          <a:prstGeom prst="roundRect">
            <a:avLst>
              <a:gd name="adj" fmla="val 21052"/>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CHARTS &amp; VISUALS</a:t>
            </a:r>
          </a:p>
        </p:txBody>
      </p:sp>
      <p:sp>
        <p:nvSpPr>
          <p:cNvPr id="19" name="TextBox 18"/>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Hệ Thống 8 Biểu Đồ Chỉ Số Nghiệp Vụ</a:t>
            </a:r>
          </a:p>
        </p:txBody>
      </p:sp>
      <p:sp>
        <p:nvSpPr>
          <p:cNvPr id="20" name="TextBox 19"/>
          <p:cNvSpPr txBox="1"/>
          <p:nvPr/>
        </p:nvSpPr>
        <p:spPr>
          <a:xfrm>
            <a:off x="1547812" y="2252960"/>
            <a:ext cx="75247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1</a:t>
            </a:r>
          </a:p>
        </p:txBody>
      </p:sp>
      <p:sp>
        <p:nvSpPr>
          <p:cNvPr id="21" name="TextBox 20"/>
          <p:cNvSpPr txBox="1"/>
          <p:nvPr/>
        </p:nvSpPr>
        <p:spPr>
          <a:xfrm>
            <a:off x="411360" y="2481560"/>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Tổng Lượng Tin Tức</a:t>
            </a:r>
          </a:p>
        </p:txBody>
      </p:sp>
      <p:sp>
        <p:nvSpPr>
          <p:cNvPr id="22" name="TextBox 21"/>
          <p:cNvSpPr txBox="1"/>
          <p:nvPr/>
        </p:nvSpPr>
        <p:spPr>
          <a:xfrm>
            <a:off x="483393" y="27006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KPI đếm bài viết thời gian thực</a:t>
            </a:r>
          </a:p>
        </p:txBody>
      </p:sp>
      <p:sp>
        <p:nvSpPr>
          <p:cNvPr id="23" name="TextBox 22"/>
          <p:cNvSpPr txBox="1"/>
          <p:nvPr/>
        </p:nvSpPr>
        <p:spPr>
          <a:xfrm>
            <a:off x="4319587" y="2252960"/>
            <a:ext cx="77152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2</a:t>
            </a:r>
          </a:p>
        </p:txBody>
      </p:sp>
      <p:sp>
        <p:nvSpPr>
          <p:cNvPr id="24" name="TextBox 23"/>
          <p:cNvSpPr txBox="1"/>
          <p:nvPr/>
        </p:nvSpPr>
        <p:spPr>
          <a:xfrm>
            <a:off x="3192660" y="2481560"/>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Sắc Thái Trung Bình</a:t>
            </a:r>
          </a:p>
        </p:txBody>
      </p:sp>
      <p:sp>
        <p:nvSpPr>
          <p:cNvPr id="25" name="TextBox 24"/>
          <p:cNvSpPr txBox="1"/>
          <p:nvPr/>
        </p:nvSpPr>
        <p:spPr>
          <a:xfrm>
            <a:off x="3264693" y="27006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Đồng hồ đo áp lực truyền thông</a:t>
            </a:r>
          </a:p>
        </p:txBody>
      </p:sp>
      <p:sp>
        <p:nvSpPr>
          <p:cNvPr id="26" name="TextBox 25"/>
          <p:cNvSpPr txBox="1"/>
          <p:nvPr/>
        </p:nvSpPr>
        <p:spPr>
          <a:xfrm>
            <a:off x="7100887" y="2252960"/>
            <a:ext cx="77152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3</a:t>
            </a:r>
          </a:p>
        </p:txBody>
      </p:sp>
      <p:sp>
        <p:nvSpPr>
          <p:cNvPr id="27" name="TextBox 26"/>
          <p:cNvSpPr txBox="1"/>
          <p:nvPr/>
        </p:nvSpPr>
        <p:spPr>
          <a:xfrm>
            <a:off x="5973960" y="2481560"/>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Cơ Cấu Sắc Thái</a:t>
            </a:r>
          </a:p>
        </p:txBody>
      </p:sp>
      <p:sp>
        <p:nvSpPr>
          <p:cNvPr id="28" name="TextBox 27"/>
          <p:cNvSpPr txBox="1"/>
          <p:nvPr/>
        </p:nvSpPr>
        <p:spPr>
          <a:xfrm>
            <a:off x="6045993" y="27006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Donut Chart: Tích cực / Tiêu cực</a:t>
            </a:r>
          </a:p>
        </p:txBody>
      </p:sp>
      <p:sp>
        <p:nvSpPr>
          <p:cNvPr id="29" name="TextBox 28"/>
          <p:cNvSpPr txBox="1"/>
          <p:nvPr/>
        </p:nvSpPr>
        <p:spPr>
          <a:xfrm>
            <a:off x="9877425" y="2252960"/>
            <a:ext cx="781050"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4</a:t>
            </a:r>
          </a:p>
        </p:txBody>
      </p:sp>
      <p:sp>
        <p:nvSpPr>
          <p:cNvPr id="30" name="TextBox 29"/>
          <p:cNvSpPr txBox="1"/>
          <p:nvPr/>
        </p:nvSpPr>
        <p:spPr>
          <a:xfrm>
            <a:off x="8755260" y="2481560"/>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Phân Bổ 8 Chủ Đề</a:t>
            </a:r>
          </a:p>
        </p:txBody>
      </p:sp>
      <p:sp>
        <p:nvSpPr>
          <p:cNvPr id="31" name="TextBox 30"/>
          <p:cNvSpPr txBox="1"/>
          <p:nvPr/>
        </p:nvSpPr>
        <p:spPr>
          <a:xfrm>
            <a:off x="8827293" y="2700635"/>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Bar chart thị phần từng lĩnh vực</a:t>
            </a:r>
          </a:p>
        </p:txBody>
      </p:sp>
      <p:sp>
        <p:nvSpPr>
          <p:cNvPr id="32" name="TextBox 31"/>
          <p:cNvSpPr txBox="1"/>
          <p:nvPr/>
        </p:nvSpPr>
        <p:spPr>
          <a:xfrm>
            <a:off x="1538287" y="4884836"/>
            <a:ext cx="77152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5</a:t>
            </a:r>
          </a:p>
        </p:txBody>
      </p:sp>
      <p:sp>
        <p:nvSpPr>
          <p:cNvPr id="33" name="TextBox 32"/>
          <p:cNvSpPr txBox="1"/>
          <p:nvPr/>
        </p:nvSpPr>
        <p:spPr>
          <a:xfrm>
            <a:off x="411360" y="5113436"/>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Xu Hướng Lượng &amp; Cảm Xúc</a:t>
            </a:r>
          </a:p>
        </p:txBody>
      </p:sp>
      <p:sp>
        <p:nvSpPr>
          <p:cNvPr id="34" name="TextBox 33"/>
          <p:cNvSpPr txBox="1"/>
          <p:nvPr/>
        </p:nvSpPr>
        <p:spPr>
          <a:xfrm>
            <a:off x="483393" y="5332511"/>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Time-series 2 trục tung song song</a:t>
            </a:r>
          </a:p>
        </p:txBody>
      </p:sp>
      <p:sp>
        <p:nvSpPr>
          <p:cNvPr id="35" name="TextBox 34"/>
          <p:cNvSpPr txBox="1"/>
          <p:nvPr/>
        </p:nvSpPr>
        <p:spPr>
          <a:xfrm>
            <a:off x="4319587" y="4884836"/>
            <a:ext cx="77152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6</a:t>
            </a:r>
          </a:p>
        </p:txBody>
      </p:sp>
      <p:sp>
        <p:nvSpPr>
          <p:cNvPr id="36" name="TextBox 35"/>
          <p:cNvSpPr txBox="1"/>
          <p:nvPr/>
        </p:nvSpPr>
        <p:spPr>
          <a:xfrm>
            <a:off x="3192660" y="5113436"/>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Top Nguồn Xuất Bản</a:t>
            </a:r>
          </a:p>
        </p:txBody>
      </p:sp>
      <p:sp>
        <p:nvSpPr>
          <p:cNvPr id="37" name="TextBox 36"/>
          <p:cNvSpPr txBox="1"/>
          <p:nvPr/>
        </p:nvSpPr>
        <p:spPr>
          <a:xfrm>
            <a:off x="3264693" y="5332511"/>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Horizontal Bar xếp hạng tòa soạn</a:t>
            </a:r>
          </a:p>
        </p:txBody>
      </p:sp>
      <p:sp>
        <p:nvSpPr>
          <p:cNvPr id="38" name="TextBox 37"/>
          <p:cNvSpPr txBox="1"/>
          <p:nvPr/>
        </p:nvSpPr>
        <p:spPr>
          <a:xfrm>
            <a:off x="7100887" y="4884836"/>
            <a:ext cx="771525"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7</a:t>
            </a:r>
          </a:p>
        </p:txBody>
      </p:sp>
      <p:sp>
        <p:nvSpPr>
          <p:cNvPr id="39" name="TextBox 38"/>
          <p:cNvSpPr txBox="1"/>
          <p:nvPr/>
        </p:nvSpPr>
        <p:spPr>
          <a:xfrm>
            <a:off x="5973960" y="5113436"/>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Dự Báo 7 Ngày Tới</a:t>
            </a:r>
          </a:p>
        </p:txBody>
      </p:sp>
      <p:sp>
        <p:nvSpPr>
          <p:cNvPr id="40" name="TextBox 39"/>
          <p:cNvSpPr txBox="1"/>
          <p:nvPr/>
        </p:nvSpPr>
        <p:spPr>
          <a:xfrm>
            <a:off x="6045993" y="5332511"/>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Forecast line từ Linear Regression</a:t>
            </a:r>
          </a:p>
        </p:txBody>
      </p:sp>
      <p:sp>
        <p:nvSpPr>
          <p:cNvPr id="41" name="TextBox 40"/>
          <p:cNvSpPr txBox="1"/>
          <p:nvPr/>
        </p:nvSpPr>
        <p:spPr>
          <a:xfrm>
            <a:off x="9877425" y="4884836"/>
            <a:ext cx="781050" cy="142875"/>
          </a:xfrm>
          <a:prstGeom prst="rect">
            <a:avLst/>
          </a:prstGeom>
          <a:noFill/>
        </p:spPr>
        <p:txBody>
          <a:bodyPr wrap="square" lIns="0" tIns="0" rIns="0" bIns="0" anchor="t">
            <a:spAutoFit/>
          </a:bodyPr>
          <a:lstStyle/>
          <a:p>
            <a:pPr algn="ctr"/>
            <a:r>
              <a:rPr sz="900" b="1" i="0" u="none">
                <a:solidFill>
                  <a:srgbClr val="0284C7"/>
                </a:solidFill>
                <a:latin typeface="Plus Jakarta Sans"/>
              </a:rPr>
              <a:t>CHART 8</a:t>
            </a:r>
          </a:p>
        </p:txBody>
      </p:sp>
      <p:sp>
        <p:nvSpPr>
          <p:cNvPr id="42" name="TextBox 41"/>
          <p:cNvSpPr txBox="1"/>
          <p:nvPr/>
        </p:nvSpPr>
        <p:spPr>
          <a:xfrm>
            <a:off x="8755260" y="5113436"/>
            <a:ext cx="3025378" cy="180975"/>
          </a:xfrm>
          <a:prstGeom prst="rect">
            <a:avLst/>
          </a:prstGeom>
          <a:noFill/>
        </p:spPr>
        <p:txBody>
          <a:bodyPr wrap="none" lIns="0" tIns="0" rIns="0" bIns="0" anchor="t">
            <a:spAutoFit/>
          </a:bodyPr>
          <a:lstStyle/>
          <a:p>
            <a:pPr algn="ctr"/>
            <a:r>
              <a:rPr sz="1125" b="1" i="0" u="none">
                <a:solidFill>
                  <a:srgbClr val="0F172A"/>
                </a:solidFill>
                <a:latin typeface="Plus Jakarta Sans"/>
              </a:rPr>
              <a:t>Bảng Tóm Tắt AI</a:t>
            </a:r>
          </a:p>
        </p:txBody>
      </p:sp>
      <p:sp>
        <p:nvSpPr>
          <p:cNvPr id="43" name="TextBox 42"/>
          <p:cNvSpPr txBox="1"/>
          <p:nvPr/>
        </p:nvSpPr>
        <p:spPr>
          <a:xfrm>
            <a:off x="8827293" y="5332511"/>
            <a:ext cx="2881312" cy="152400"/>
          </a:xfrm>
          <a:prstGeom prst="rect">
            <a:avLst/>
          </a:prstGeom>
          <a:noFill/>
        </p:spPr>
        <p:txBody>
          <a:bodyPr wrap="none" lIns="0" tIns="0" rIns="0" bIns="0" anchor="t">
            <a:spAutoFit/>
          </a:bodyPr>
          <a:lstStyle/>
          <a:p>
            <a:pPr algn="ctr"/>
            <a:r>
              <a:rPr sz="975" b="0" i="0" u="none">
                <a:solidFill>
                  <a:srgbClr val="64748B"/>
                </a:solidFill>
                <a:latin typeface="Plus Jakarta Sans"/>
              </a:rPr>
              <a:t>Bảng tóm tắt điều hành Gemini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006923"/>
            <a:ext cx="25717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409950" y="3006923"/>
            <a:ext cx="25717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210300" y="3006923"/>
            <a:ext cx="25717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010650" y="3006923"/>
            <a:ext cx="25717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57200"/>
            <a:ext cx="11582400" cy="161925"/>
          </a:xfrm>
          <a:prstGeom prst="rect">
            <a:avLst/>
          </a:prstGeom>
          <a:noFill/>
        </p:spPr>
        <p:txBody>
          <a:bodyPr wrap="none" lIns="0" tIns="0" rIns="0" bIns="0" anchor="t">
            <a:spAutoFit/>
          </a:bodyPr>
          <a:lstStyle/>
          <a:p>
            <a:pPr algn="l"/>
            <a:r>
              <a:rPr sz="975" b="1" i="0" u="none">
                <a:solidFill>
                  <a:srgbClr val="0284C7"/>
                </a:solidFill>
                <a:latin typeface="Space Grotesk"/>
              </a:rPr>
              <a:t>EVALUATION &amp; PERFORMANCE</a:t>
            </a:r>
          </a:p>
        </p:txBody>
      </p:sp>
      <p:sp>
        <p:nvSpPr>
          <p:cNvPr id="7" name="TextBox 6"/>
          <p:cNvSpPr txBox="1"/>
          <p:nvPr/>
        </p:nvSpPr>
        <p:spPr>
          <a:xfrm>
            <a:off x="609600" y="695325"/>
            <a:ext cx="11582400" cy="365670"/>
          </a:xfrm>
          <a:prstGeom prst="rect">
            <a:avLst/>
          </a:prstGeom>
          <a:noFill/>
        </p:spPr>
        <p:txBody>
          <a:bodyPr wrap="none" lIns="0" tIns="0" rIns="0" bIns="0" anchor="t">
            <a:spAutoFit/>
          </a:bodyPr>
          <a:lstStyle/>
          <a:p>
            <a:pPr algn="l">
              <a:lnSpc>
                <a:spcPts val="2879"/>
              </a:lnSpc>
            </a:pPr>
            <a:r>
              <a:rPr sz="2400" b="1" i="0" u="none">
                <a:solidFill>
                  <a:srgbClr val="0F172A"/>
                </a:solidFill>
                <a:latin typeface="Plus Jakarta Sans"/>
              </a:rPr>
              <a:t>Đánh Giá Chất Lượng &amp; Hiệu Năng Hệ Thống</a:t>
            </a:r>
          </a:p>
        </p:txBody>
      </p:sp>
      <p:sp>
        <p:nvSpPr>
          <p:cNvPr id="8" name="TextBox 7"/>
          <p:cNvSpPr txBox="1"/>
          <p:nvPr/>
        </p:nvSpPr>
        <p:spPr>
          <a:xfrm>
            <a:off x="538162" y="3321248"/>
            <a:ext cx="2714625" cy="581025"/>
          </a:xfrm>
          <a:prstGeom prst="rect">
            <a:avLst/>
          </a:prstGeom>
          <a:noFill/>
        </p:spPr>
        <p:txBody>
          <a:bodyPr wrap="none" lIns="0" tIns="0" rIns="0" bIns="0" anchor="t">
            <a:spAutoFit/>
          </a:bodyPr>
          <a:lstStyle/>
          <a:p>
            <a:pPr algn="ctr"/>
            <a:r>
              <a:rPr sz="3600" b="1" i="0" u="none">
                <a:solidFill>
                  <a:srgbClr val="16A34A"/>
                </a:solidFill>
                <a:latin typeface="Space Grotesk"/>
              </a:rPr>
              <a:t>0%</a:t>
            </a:r>
          </a:p>
        </p:txBody>
      </p:sp>
      <p:sp>
        <p:nvSpPr>
          <p:cNvPr id="9" name="TextBox 8"/>
          <p:cNvSpPr txBox="1"/>
          <p:nvPr/>
        </p:nvSpPr>
        <p:spPr>
          <a:xfrm>
            <a:off x="470296" y="3978473"/>
            <a:ext cx="2850356" cy="200025"/>
          </a:xfrm>
          <a:prstGeom prst="rect">
            <a:avLst/>
          </a:prstGeom>
          <a:noFill/>
        </p:spPr>
        <p:txBody>
          <a:bodyPr wrap="none" lIns="0" tIns="0" rIns="0" bIns="0" anchor="t">
            <a:spAutoFit/>
          </a:bodyPr>
          <a:lstStyle/>
          <a:p>
            <a:pPr algn="ctr"/>
            <a:r>
              <a:rPr sz="1200" b="1" i="0" u="none">
                <a:solidFill>
                  <a:srgbClr val="0F172A"/>
                </a:solidFill>
                <a:latin typeface="Plus Jakarta Sans"/>
              </a:rPr>
              <a:t>Missing Rate</a:t>
            </a:r>
          </a:p>
        </p:txBody>
      </p:sp>
      <p:sp>
        <p:nvSpPr>
          <p:cNvPr id="10" name="TextBox 9"/>
          <p:cNvSpPr txBox="1"/>
          <p:nvPr/>
        </p:nvSpPr>
        <p:spPr>
          <a:xfrm>
            <a:off x="538162" y="4216598"/>
            <a:ext cx="2714625" cy="152400"/>
          </a:xfrm>
          <a:prstGeom prst="rect">
            <a:avLst/>
          </a:prstGeom>
          <a:noFill/>
        </p:spPr>
        <p:txBody>
          <a:bodyPr wrap="none" lIns="0" tIns="0" rIns="0" bIns="0" anchor="t">
            <a:spAutoFit/>
          </a:bodyPr>
          <a:lstStyle/>
          <a:p>
            <a:pPr algn="ctr"/>
            <a:r>
              <a:rPr sz="975" b="0" i="0" u="none">
                <a:solidFill>
                  <a:srgbClr val="64748B"/>
                </a:solidFill>
                <a:latin typeface="Plus Jakarta Sans"/>
              </a:rPr>
              <a:t>Các trường cốt lõi toàn vẹn</a:t>
            </a:r>
          </a:p>
        </p:txBody>
      </p:sp>
      <p:sp>
        <p:nvSpPr>
          <p:cNvPr id="11" name="TextBox 10"/>
          <p:cNvSpPr txBox="1"/>
          <p:nvPr/>
        </p:nvSpPr>
        <p:spPr>
          <a:xfrm>
            <a:off x="3338512" y="3321248"/>
            <a:ext cx="2714625" cy="581025"/>
          </a:xfrm>
          <a:prstGeom prst="rect">
            <a:avLst/>
          </a:prstGeom>
          <a:noFill/>
        </p:spPr>
        <p:txBody>
          <a:bodyPr wrap="none" lIns="0" tIns="0" rIns="0" bIns="0" anchor="t">
            <a:spAutoFit/>
          </a:bodyPr>
          <a:lstStyle/>
          <a:p>
            <a:pPr algn="ctr"/>
            <a:r>
              <a:rPr sz="3600" b="1" i="0" u="none">
                <a:solidFill>
                  <a:srgbClr val="0284C7"/>
                </a:solidFill>
                <a:latin typeface="Space Grotesk"/>
              </a:rPr>
              <a:t>89.5%</a:t>
            </a:r>
          </a:p>
        </p:txBody>
      </p:sp>
      <p:sp>
        <p:nvSpPr>
          <p:cNvPr id="12" name="TextBox 11"/>
          <p:cNvSpPr txBox="1"/>
          <p:nvPr/>
        </p:nvSpPr>
        <p:spPr>
          <a:xfrm>
            <a:off x="3270646" y="3978473"/>
            <a:ext cx="2850356" cy="200025"/>
          </a:xfrm>
          <a:prstGeom prst="rect">
            <a:avLst/>
          </a:prstGeom>
          <a:noFill/>
        </p:spPr>
        <p:txBody>
          <a:bodyPr wrap="none" lIns="0" tIns="0" rIns="0" bIns="0" anchor="t">
            <a:spAutoFit/>
          </a:bodyPr>
          <a:lstStyle/>
          <a:p>
            <a:pPr algn="ctr"/>
            <a:r>
              <a:rPr sz="1200" b="1" i="0" u="none">
                <a:solidFill>
                  <a:srgbClr val="0F172A"/>
                </a:solidFill>
                <a:latin typeface="Plus Jakarta Sans"/>
              </a:rPr>
              <a:t>Phân Loại Chủ Đề</a:t>
            </a:r>
          </a:p>
        </p:txBody>
      </p:sp>
      <p:sp>
        <p:nvSpPr>
          <p:cNvPr id="13" name="TextBox 12"/>
          <p:cNvSpPr txBox="1"/>
          <p:nvPr/>
        </p:nvSpPr>
        <p:spPr>
          <a:xfrm>
            <a:off x="3338512" y="4216598"/>
            <a:ext cx="2714625" cy="152400"/>
          </a:xfrm>
          <a:prstGeom prst="rect">
            <a:avLst/>
          </a:prstGeom>
          <a:noFill/>
        </p:spPr>
        <p:txBody>
          <a:bodyPr wrap="none" lIns="0" tIns="0" rIns="0" bIns="0" anchor="t">
            <a:spAutoFit/>
          </a:bodyPr>
          <a:lstStyle/>
          <a:p>
            <a:pPr algn="ctr"/>
            <a:r>
              <a:rPr sz="975" b="0" i="0" u="none">
                <a:solidFill>
                  <a:srgbClr val="64748B"/>
                </a:solidFill>
                <a:latin typeface="Plus Jakarta Sans"/>
              </a:rPr>
              <a:t>Độ chính xác trên tập kiểm thử</a:t>
            </a:r>
          </a:p>
        </p:txBody>
      </p:sp>
      <p:sp>
        <p:nvSpPr>
          <p:cNvPr id="14" name="TextBox 13"/>
          <p:cNvSpPr txBox="1"/>
          <p:nvPr/>
        </p:nvSpPr>
        <p:spPr>
          <a:xfrm>
            <a:off x="6138862" y="3321248"/>
            <a:ext cx="2714625" cy="581025"/>
          </a:xfrm>
          <a:prstGeom prst="rect">
            <a:avLst/>
          </a:prstGeom>
          <a:noFill/>
        </p:spPr>
        <p:txBody>
          <a:bodyPr wrap="none" lIns="0" tIns="0" rIns="0" bIns="0" anchor="t">
            <a:spAutoFit/>
          </a:bodyPr>
          <a:lstStyle/>
          <a:p>
            <a:pPr algn="ctr"/>
            <a:r>
              <a:rPr sz="3600" b="1" i="0" u="none">
                <a:solidFill>
                  <a:srgbClr val="7C3AED"/>
                </a:solidFill>
                <a:latin typeface="Space Grotesk"/>
              </a:rPr>
              <a:t>0.84</a:t>
            </a:r>
          </a:p>
        </p:txBody>
      </p:sp>
      <p:sp>
        <p:nvSpPr>
          <p:cNvPr id="15" name="TextBox 14"/>
          <p:cNvSpPr txBox="1"/>
          <p:nvPr/>
        </p:nvSpPr>
        <p:spPr>
          <a:xfrm>
            <a:off x="6070996" y="3978473"/>
            <a:ext cx="2850356" cy="200025"/>
          </a:xfrm>
          <a:prstGeom prst="rect">
            <a:avLst/>
          </a:prstGeom>
          <a:noFill/>
        </p:spPr>
        <p:txBody>
          <a:bodyPr wrap="none" lIns="0" tIns="0" rIns="0" bIns="0" anchor="t">
            <a:spAutoFit/>
          </a:bodyPr>
          <a:lstStyle/>
          <a:p>
            <a:pPr algn="ctr"/>
            <a:r>
              <a:rPr sz="1200" b="1" i="0" u="none">
                <a:solidFill>
                  <a:srgbClr val="0F172A"/>
                </a:solidFill>
                <a:latin typeface="Plus Jakarta Sans"/>
              </a:rPr>
              <a:t>F1-Score</a:t>
            </a:r>
          </a:p>
        </p:txBody>
      </p:sp>
      <p:sp>
        <p:nvSpPr>
          <p:cNvPr id="16" name="TextBox 15"/>
          <p:cNvSpPr txBox="1"/>
          <p:nvPr/>
        </p:nvSpPr>
        <p:spPr>
          <a:xfrm>
            <a:off x="6138862" y="4216598"/>
            <a:ext cx="2714625" cy="152400"/>
          </a:xfrm>
          <a:prstGeom prst="rect">
            <a:avLst/>
          </a:prstGeom>
          <a:noFill/>
        </p:spPr>
        <p:txBody>
          <a:bodyPr wrap="none" lIns="0" tIns="0" rIns="0" bIns="0" anchor="t">
            <a:spAutoFit/>
          </a:bodyPr>
          <a:lstStyle/>
          <a:p>
            <a:pPr algn="ctr"/>
            <a:r>
              <a:rPr sz="975" b="0" i="0" u="none">
                <a:solidFill>
                  <a:srgbClr val="64748B"/>
                </a:solidFill>
                <a:latin typeface="Plus Jakarta Sans"/>
              </a:rPr>
              <a:t>Mô hình Ensemble sắc thái</a:t>
            </a:r>
          </a:p>
        </p:txBody>
      </p:sp>
      <p:sp>
        <p:nvSpPr>
          <p:cNvPr id="17" name="TextBox 16"/>
          <p:cNvSpPr txBox="1"/>
          <p:nvPr/>
        </p:nvSpPr>
        <p:spPr>
          <a:xfrm>
            <a:off x="8939212" y="3321248"/>
            <a:ext cx="2714625" cy="581025"/>
          </a:xfrm>
          <a:prstGeom prst="rect">
            <a:avLst/>
          </a:prstGeom>
          <a:noFill/>
        </p:spPr>
        <p:txBody>
          <a:bodyPr wrap="none" lIns="0" tIns="0" rIns="0" bIns="0" anchor="t">
            <a:spAutoFit/>
          </a:bodyPr>
          <a:lstStyle/>
          <a:p>
            <a:pPr algn="ctr"/>
            <a:r>
              <a:rPr sz="3600" b="1" i="0" u="none">
                <a:solidFill>
                  <a:srgbClr val="D97706"/>
                </a:solidFill>
                <a:latin typeface="Space Grotesk"/>
              </a:rPr>
              <a:t>&lt;120ms</a:t>
            </a:r>
          </a:p>
        </p:txBody>
      </p:sp>
      <p:sp>
        <p:nvSpPr>
          <p:cNvPr id="18" name="TextBox 17"/>
          <p:cNvSpPr txBox="1"/>
          <p:nvPr/>
        </p:nvSpPr>
        <p:spPr>
          <a:xfrm>
            <a:off x="8871346" y="3978473"/>
            <a:ext cx="2850356" cy="200025"/>
          </a:xfrm>
          <a:prstGeom prst="rect">
            <a:avLst/>
          </a:prstGeom>
          <a:noFill/>
        </p:spPr>
        <p:txBody>
          <a:bodyPr wrap="none" lIns="0" tIns="0" rIns="0" bIns="0" anchor="t">
            <a:spAutoFit/>
          </a:bodyPr>
          <a:lstStyle/>
          <a:p>
            <a:pPr algn="ctr"/>
            <a:r>
              <a:rPr sz="1200" b="1" i="0" u="none">
                <a:solidFill>
                  <a:srgbClr val="0F172A"/>
                </a:solidFill>
                <a:latin typeface="Plus Jakarta Sans"/>
              </a:rPr>
              <a:t>Độ Trễ Truy Vấn</a:t>
            </a:r>
          </a:p>
        </p:txBody>
      </p:sp>
      <p:sp>
        <p:nvSpPr>
          <p:cNvPr id="19" name="TextBox 18"/>
          <p:cNvSpPr txBox="1"/>
          <p:nvPr/>
        </p:nvSpPr>
        <p:spPr>
          <a:xfrm>
            <a:off x="8939212" y="4216598"/>
            <a:ext cx="2714625" cy="152400"/>
          </a:xfrm>
          <a:prstGeom prst="rect">
            <a:avLst/>
          </a:prstGeom>
          <a:noFill/>
        </p:spPr>
        <p:txBody>
          <a:bodyPr wrap="none" lIns="0" tIns="0" rIns="0" bIns="0" anchor="t">
            <a:spAutoFit/>
          </a:bodyPr>
          <a:lstStyle/>
          <a:p>
            <a:pPr algn="ctr"/>
            <a:r>
              <a:rPr sz="975" b="0" i="0" u="none">
                <a:solidFill>
                  <a:srgbClr val="64748B"/>
                </a:solidFill>
                <a:latin typeface="Plus Jakarta Sans"/>
              </a:rPr>
              <a:t>Tối ưu hóa chỉ mục Superset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B2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762000" y="5457825"/>
            <a:ext cx="10668000" cy="7905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2295525"/>
            <a:ext cx="5143500" cy="1714500"/>
          </a:xfrm>
          <a:prstGeom prst="roundRect">
            <a:avLst>
              <a:gd name="adj" fmla="val 6666"/>
            </a:avLst>
          </a:prstGeom>
          <a:solidFill>
            <a:srgbClr val="1D2432"/>
          </a:solidFill>
          <a:ln w="9525">
            <a:solidFill>
              <a:srgbClr val="2C3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86500" y="2295525"/>
            <a:ext cx="5143500" cy="1714500"/>
          </a:xfrm>
          <a:prstGeom prst="roundRect">
            <a:avLst>
              <a:gd name="adj" fmla="val 6666"/>
            </a:avLst>
          </a:prstGeom>
          <a:solidFill>
            <a:srgbClr val="1D2432"/>
          </a:solidFill>
          <a:ln w="9525">
            <a:solidFill>
              <a:srgbClr val="2C3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5457825"/>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1038225" y="2595562"/>
            <a:ext cx="190500" cy="190500"/>
          </a:xfrm>
          <a:prstGeom prst="rect">
            <a:avLst/>
          </a:prstGeom>
        </p:spPr>
      </p:pic>
      <p:pic>
        <p:nvPicPr>
          <p:cNvPr id="8" name="Picture 7" descr="image.png"/>
          <p:cNvPicPr>
            <a:picLocks noChangeAspect="1"/>
          </p:cNvPicPr>
          <p:nvPr/>
        </p:nvPicPr>
        <p:blipFill>
          <a:blip r:embed="rId4"/>
          <a:stretch>
            <a:fillRect/>
          </a:stretch>
        </p:blipFill>
        <p:spPr>
          <a:xfrm>
            <a:off x="6562725" y="2595562"/>
            <a:ext cx="190500" cy="190500"/>
          </a:xfrm>
          <a:prstGeom prst="rect">
            <a:avLst/>
          </a:prstGeom>
        </p:spPr>
      </p:pic>
      <p:pic>
        <p:nvPicPr>
          <p:cNvPr id="9" name="Picture 8" descr="image.png"/>
          <p:cNvPicPr>
            <a:picLocks noChangeAspect="1"/>
          </p:cNvPicPr>
          <p:nvPr/>
        </p:nvPicPr>
        <p:blipFill>
          <a:blip r:embed="rId5"/>
          <a:stretch>
            <a:fillRect/>
          </a:stretch>
        </p:blipFill>
        <p:spPr>
          <a:xfrm>
            <a:off x="1038225" y="3000375"/>
            <a:ext cx="123825" cy="142875"/>
          </a:xfrm>
          <a:prstGeom prst="rect">
            <a:avLst/>
          </a:prstGeom>
        </p:spPr>
      </p:pic>
      <p:pic>
        <p:nvPicPr>
          <p:cNvPr id="10" name="Picture 9" descr="image.png"/>
          <p:cNvPicPr>
            <a:picLocks noChangeAspect="1"/>
          </p:cNvPicPr>
          <p:nvPr/>
        </p:nvPicPr>
        <p:blipFill>
          <a:blip r:embed="rId5"/>
          <a:stretch>
            <a:fillRect/>
          </a:stretch>
        </p:blipFill>
        <p:spPr>
          <a:xfrm>
            <a:off x="1038225" y="3295650"/>
            <a:ext cx="123825" cy="142875"/>
          </a:xfrm>
          <a:prstGeom prst="rect">
            <a:avLst/>
          </a:prstGeom>
        </p:spPr>
      </p:pic>
      <p:pic>
        <p:nvPicPr>
          <p:cNvPr id="11" name="Picture 10" descr="image.png"/>
          <p:cNvPicPr>
            <a:picLocks noChangeAspect="1"/>
          </p:cNvPicPr>
          <p:nvPr/>
        </p:nvPicPr>
        <p:blipFill>
          <a:blip r:embed="rId5"/>
          <a:stretch>
            <a:fillRect/>
          </a:stretch>
        </p:blipFill>
        <p:spPr>
          <a:xfrm>
            <a:off x="1038225" y="3590925"/>
            <a:ext cx="123825" cy="142875"/>
          </a:xfrm>
          <a:prstGeom prst="rect">
            <a:avLst/>
          </a:prstGeom>
        </p:spPr>
      </p:pic>
      <p:pic>
        <p:nvPicPr>
          <p:cNvPr id="12" name="Picture 11" descr="image.png"/>
          <p:cNvPicPr>
            <a:picLocks noChangeAspect="1"/>
          </p:cNvPicPr>
          <p:nvPr/>
        </p:nvPicPr>
        <p:blipFill>
          <a:blip r:embed="rId6"/>
          <a:stretch>
            <a:fillRect/>
          </a:stretch>
        </p:blipFill>
        <p:spPr>
          <a:xfrm>
            <a:off x="6562725" y="3000375"/>
            <a:ext cx="123825" cy="142875"/>
          </a:xfrm>
          <a:prstGeom prst="rect">
            <a:avLst/>
          </a:prstGeom>
        </p:spPr>
      </p:pic>
      <p:pic>
        <p:nvPicPr>
          <p:cNvPr id="13" name="Picture 12" descr="image.png"/>
          <p:cNvPicPr>
            <a:picLocks noChangeAspect="1"/>
          </p:cNvPicPr>
          <p:nvPr/>
        </p:nvPicPr>
        <p:blipFill>
          <a:blip r:embed="rId6"/>
          <a:stretch>
            <a:fillRect/>
          </a:stretch>
        </p:blipFill>
        <p:spPr>
          <a:xfrm>
            <a:off x="6562725" y="3295650"/>
            <a:ext cx="123825" cy="142875"/>
          </a:xfrm>
          <a:prstGeom prst="rect">
            <a:avLst/>
          </a:prstGeom>
        </p:spPr>
      </p:pic>
      <p:pic>
        <p:nvPicPr>
          <p:cNvPr id="14" name="Picture 13" descr="image.png"/>
          <p:cNvPicPr>
            <a:picLocks noChangeAspect="1"/>
          </p:cNvPicPr>
          <p:nvPr/>
        </p:nvPicPr>
        <p:blipFill>
          <a:blip r:embed="rId6"/>
          <a:stretch>
            <a:fillRect/>
          </a:stretch>
        </p:blipFill>
        <p:spPr>
          <a:xfrm>
            <a:off x="6562725" y="3590925"/>
            <a:ext cx="123825" cy="142875"/>
          </a:xfrm>
          <a:prstGeom prst="rect">
            <a:avLst/>
          </a:prstGeom>
        </p:spPr>
      </p:pic>
      <p:sp>
        <p:nvSpPr>
          <p:cNvPr id="15" name="TextBox 14"/>
          <p:cNvSpPr txBox="1"/>
          <p:nvPr/>
        </p:nvSpPr>
        <p:spPr>
          <a:xfrm>
            <a:off x="762000" y="609600"/>
            <a:ext cx="1946671" cy="161925"/>
          </a:xfrm>
          <a:prstGeom prst="rect">
            <a:avLst/>
          </a:prstGeom>
          <a:noFill/>
        </p:spPr>
        <p:txBody>
          <a:bodyPr wrap="none" lIns="0" tIns="0" rIns="0" bIns="0" anchor="t">
            <a:spAutoFit/>
          </a:bodyPr>
          <a:lstStyle/>
          <a:p>
            <a:pPr algn="l"/>
            <a:r>
              <a:rPr sz="975" b="1" i="0" u="none">
                <a:solidFill>
                  <a:srgbClr val="38BDF8"/>
                </a:solidFill>
                <a:latin typeface="Space Grotesk"/>
              </a:rPr>
              <a:t>SUMMARY &amp; ROADMAP</a:t>
            </a:r>
          </a:p>
        </p:txBody>
      </p:sp>
      <p:sp>
        <p:nvSpPr>
          <p:cNvPr id="16" name="TextBox 15"/>
          <p:cNvSpPr txBox="1"/>
          <p:nvPr/>
        </p:nvSpPr>
        <p:spPr>
          <a:xfrm>
            <a:off x="9553575" y="642937"/>
            <a:ext cx="2345531" cy="171450"/>
          </a:xfrm>
          <a:prstGeom prst="rect">
            <a:avLst/>
          </a:prstGeom>
          <a:noFill/>
        </p:spPr>
        <p:txBody>
          <a:bodyPr wrap="none" lIns="0" tIns="0" rIns="0" bIns="0" anchor="t">
            <a:spAutoFit/>
          </a:bodyPr>
          <a:lstStyle/>
          <a:p>
            <a:pPr algn="l"/>
            <a:r>
              <a:rPr sz="1050" b="0" i="0" u="none">
                <a:solidFill>
                  <a:srgbClr val="94A3B8"/>
                </a:solidFill>
                <a:latin typeface="Space Grotesk"/>
              </a:rPr>
              <a:t>VIETNAM NEWS INTELLIGENCE</a:t>
            </a:r>
          </a:p>
        </p:txBody>
      </p:sp>
      <p:sp>
        <p:nvSpPr>
          <p:cNvPr id="17" name="TextBox 16"/>
          <p:cNvSpPr txBox="1"/>
          <p:nvPr/>
        </p:nvSpPr>
        <p:spPr>
          <a:xfrm>
            <a:off x="2323465" y="5657850"/>
            <a:ext cx="7545079" cy="323165"/>
          </a:xfrm>
          <a:prstGeom prst="rect">
            <a:avLst/>
          </a:prstGeom>
          <a:noFill/>
        </p:spPr>
        <p:txBody>
          <a:bodyPr wrap="none" lIns="0" tIns="0" rIns="0" bIns="0" anchor="t">
            <a:spAutoFit/>
          </a:bodyPr>
          <a:lstStyle/>
          <a:p>
            <a:pPr algn="ctr"/>
            <a:r>
              <a:rPr sz="2100" b="1" i="0" u="none" dirty="0">
                <a:solidFill>
                  <a:srgbClr val="FFFFFF"/>
                </a:solidFill>
                <a:latin typeface="Plus Jakarta Sans"/>
              </a:rPr>
              <a:t>XIN CHÂN THÀNH CẢM ƠN QUÝ THẦY</a:t>
            </a:r>
            <a:r>
              <a:rPr lang="en-US" sz="2100" b="1" i="0" u="none" dirty="0">
                <a:solidFill>
                  <a:srgbClr val="FFFFFF"/>
                </a:solidFill>
                <a:latin typeface="Plus Jakarta Sans"/>
              </a:rPr>
              <a:t> VÀ CÁC BẠN ĐÃ LẮNG NGHE</a:t>
            </a:r>
            <a:r>
              <a:rPr sz="2100" b="1" i="0" u="none" dirty="0">
                <a:solidFill>
                  <a:srgbClr val="FFFFFF"/>
                </a:solidFill>
                <a:latin typeface="Plus Jakarta Sans"/>
              </a:rPr>
              <a:t>!</a:t>
            </a:r>
          </a:p>
        </p:txBody>
      </p:sp>
      <p:sp>
        <p:nvSpPr>
          <p:cNvPr id="18" name="TextBox 17"/>
          <p:cNvSpPr txBox="1"/>
          <p:nvPr/>
        </p:nvSpPr>
        <p:spPr>
          <a:xfrm>
            <a:off x="-285750" y="6048375"/>
            <a:ext cx="12763500" cy="200025"/>
          </a:xfrm>
          <a:prstGeom prst="rect">
            <a:avLst/>
          </a:prstGeom>
          <a:noFill/>
        </p:spPr>
        <p:txBody>
          <a:bodyPr wrap="none" lIns="0" tIns="0" rIns="0" bIns="0" anchor="t">
            <a:spAutoFit/>
          </a:bodyPr>
          <a:lstStyle/>
          <a:p>
            <a:pPr algn="ctr"/>
            <a:r>
              <a:rPr sz="1200" b="0" i="0" u="none">
                <a:solidFill>
                  <a:srgbClr val="94A3B8"/>
                </a:solidFill>
                <a:latin typeface="Plus Jakarta Sans"/>
              </a:rPr>
              <a:t>Nhóm 1 sẵn sàng lắng nghe các ý kiến đóng góp và câu hỏi phản biện.</a:t>
            </a:r>
          </a:p>
        </p:txBody>
      </p:sp>
      <p:sp>
        <p:nvSpPr>
          <p:cNvPr id="19" name="TextBox 18"/>
          <p:cNvSpPr txBox="1"/>
          <p:nvPr/>
        </p:nvSpPr>
        <p:spPr>
          <a:xfrm>
            <a:off x="1343025" y="2571750"/>
            <a:ext cx="2200275" cy="238125"/>
          </a:xfrm>
          <a:prstGeom prst="rect">
            <a:avLst/>
          </a:prstGeom>
          <a:noFill/>
        </p:spPr>
        <p:txBody>
          <a:bodyPr wrap="none" lIns="0" tIns="0" rIns="0" bIns="0" anchor="t">
            <a:spAutoFit/>
          </a:bodyPr>
          <a:lstStyle/>
          <a:p>
            <a:pPr algn="l"/>
            <a:r>
              <a:rPr sz="1500" b="1" i="0" u="none">
                <a:solidFill>
                  <a:srgbClr val="FFFFFF"/>
                </a:solidFill>
                <a:latin typeface="Plus Jakarta Sans"/>
              </a:rPr>
              <a:t>Kết Quả Đạt Được</a:t>
            </a:r>
          </a:p>
        </p:txBody>
      </p:sp>
      <p:sp>
        <p:nvSpPr>
          <p:cNvPr id="20" name="TextBox 19"/>
          <p:cNvSpPr txBox="1"/>
          <p:nvPr/>
        </p:nvSpPr>
        <p:spPr>
          <a:xfrm>
            <a:off x="1257300" y="2962275"/>
            <a:ext cx="5519737" cy="180975"/>
          </a:xfrm>
          <a:prstGeom prst="rect">
            <a:avLst/>
          </a:prstGeom>
          <a:noFill/>
        </p:spPr>
        <p:txBody>
          <a:bodyPr wrap="none" lIns="0" tIns="0" rIns="0" bIns="0" anchor="t">
            <a:spAutoFit/>
          </a:bodyPr>
          <a:lstStyle/>
          <a:p>
            <a:pPr algn="l"/>
            <a:r>
              <a:rPr sz="1125" b="1" i="0" u="none">
                <a:solidFill>
                  <a:srgbClr val="38BDF8"/>
                </a:solidFill>
                <a:latin typeface="Plus Jakarta Sans"/>
              </a:rPr>
              <a:t>Hoàn thiện pipeline ETL end-to-end tự động hóa.</a:t>
            </a:r>
          </a:p>
        </p:txBody>
      </p:sp>
      <p:sp>
        <p:nvSpPr>
          <p:cNvPr id="21" name="TextBox 20"/>
          <p:cNvSpPr txBox="1"/>
          <p:nvPr/>
        </p:nvSpPr>
        <p:spPr>
          <a:xfrm>
            <a:off x="1257300" y="3257550"/>
            <a:ext cx="5519737" cy="180975"/>
          </a:xfrm>
          <a:prstGeom prst="rect">
            <a:avLst/>
          </a:prstGeom>
          <a:noFill/>
        </p:spPr>
        <p:txBody>
          <a:bodyPr wrap="none" lIns="0" tIns="0" rIns="0" bIns="0" anchor="t">
            <a:spAutoFit/>
          </a:bodyPr>
          <a:lstStyle/>
          <a:p>
            <a:pPr algn="l"/>
            <a:r>
              <a:rPr sz="1125" b="1" i="0" u="none">
                <a:solidFill>
                  <a:srgbClr val="38BDF8"/>
                </a:solidFill>
                <a:latin typeface="Plus Jakarta Sans"/>
              </a:rPr>
              <a:t>Tích hợp thành công NLP Ensemble và Gemini 1.5.</a:t>
            </a:r>
          </a:p>
        </p:txBody>
      </p:sp>
      <p:sp>
        <p:nvSpPr>
          <p:cNvPr id="22" name="TextBox 21"/>
          <p:cNvSpPr txBox="1"/>
          <p:nvPr/>
        </p:nvSpPr>
        <p:spPr>
          <a:xfrm>
            <a:off x="1257300" y="3552825"/>
            <a:ext cx="5519737" cy="180975"/>
          </a:xfrm>
          <a:prstGeom prst="rect">
            <a:avLst/>
          </a:prstGeom>
          <a:noFill/>
        </p:spPr>
        <p:txBody>
          <a:bodyPr wrap="none" lIns="0" tIns="0" rIns="0" bIns="0" anchor="t">
            <a:spAutoFit/>
          </a:bodyPr>
          <a:lstStyle/>
          <a:p>
            <a:pPr algn="l"/>
            <a:r>
              <a:rPr sz="1125" b="1" i="0" u="none">
                <a:solidFill>
                  <a:srgbClr val="38BDF8"/>
                </a:solidFill>
                <a:latin typeface="Plus Jakarta Sans"/>
              </a:rPr>
              <a:t>Triển khai 8 biểu đồ BI thời gian thực trên Superset.</a:t>
            </a:r>
          </a:p>
        </p:txBody>
      </p:sp>
      <p:sp>
        <p:nvSpPr>
          <p:cNvPr id="23" name="TextBox 22"/>
          <p:cNvSpPr txBox="1"/>
          <p:nvPr/>
        </p:nvSpPr>
        <p:spPr>
          <a:xfrm>
            <a:off x="6867525" y="2571750"/>
            <a:ext cx="3162895" cy="238125"/>
          </a:xfrm>
          <a:prstGeom prst="rect">
            <a:avLst/>
          </a:prstGeom>
          <a:noFill/>
        </p:spPr>
        <p:txBody>
          <a:bodyPr wrap="none" lIns="0" tIns="0" rIns="0" bIns="0" anchor="t">
            <a:spAutoFit/>
          </a:bodyPr>
          <a:lstStyle/>
          <a:p>
            <a:pPr algn="l"/>
            <a:r>
              <a:rPr sz="1500" b="1" i="0" u="none">
                <a:solidFill>
                  <a:srgbClr val="FFFFFF"/>
                </a:solidFill>
                <a:latin typeface="Plus Jakarta Sans"/>
              </a:rPr>
              <a:t>Hướng Mở Rộng Tiếp Theo</a:t>
            </a:r>
          </a:p>
        </p:txBody>
      </p:sp>
      <p:sp>
        <p:nvSpPr>
          <p:cNvPr id="24" name="TextBox 23"/>
          <p:cNvSpPr txBox="1"/>
          <p:nvPr/>
        </p:nvSpPr>
        <p:spPr>
          <a:xfrm>
            <a:off x="6781800" y="2962275"/>
            <a:ext cx="5410200" cy="180975"/>
          </a:xfrm>
          <a:prstGeom prst="rect">
            <a:avLst/>
          </a:prstGeom>
          <a:noFill/>
        </p:spPr>
        <p:txBody>
          <a:bodyPr wrap="none" lIns="0" tIns="0" rIns="0" bIns="0" anchor="t">
            <a:spAutoFit/>
          </a:bodyPr>
          <a:lstStyle/>
          <a:p>
            <a:pPr algn="l"/>
            <a:r>
              <a:rPr sz="1125" b="1" i="0" u="none">
                <a:solidFill>
                  <a:srgbClr val="F59E0B"/>
                </a:solidFill>
                <a:latin typeface="Plus Jakarta Sans"/>
              </a:rPr>
              <a:t>Tích hợp mạng xã hội (Facebook, TikTok, diễn đàn).</a:t>
            </a:r>
          </a:p>
        </p:txBody>
      </p:sp>
      <p:sp>
        <p:nvSpPr>
          <p:cNvPr id="25" name="TextBox 24"/>
          <p:cNvSpPr txBox="1"/>
          <p:nvPr/>
        </p:nvSpPr>
        <p:spPr>
          <a:xfrm>
            <a:off x="6781800" y="3257550"/>
            <a:ext cx="5410200" cy="180975"/>
          </a:xfrm>
          <a:prstGeom prst="rect">
            <a:avLst/>
          </a:prstGeom>
          <a:noFill/>
        </p:spPr>
        <p:txBody>
          <a:bodyPr wrap="none" lIns="0" tIns="0" rIns="0" bIns="0" anchor="t">
            <a:spAutoFit/>
          </a:bodyPr>
          <a:lstStyle/>
          <a:p>
            <a:pPr algn="l"/>
            <a:r>
              <a:rPr sz="1125" b="1" i="0" u="none">
                <a:solidFill>
                  <a:srgbClr val="F59E0B"/>
                </a:solidFill>
                <a:latin typeface="Plus Jakarta Sans"/>
              </a:rPr>
              <a:t>Huấn luyện mô hình PhoBERT chuyên biệt tiếng Việt.</a:t>
            </a:r>
          </a:p>
        </p:txBody>
      </p:sp>
      <p:sp>
        <p:nvSpPr>
          <p:cNvPr id="26" name="TextBox 25"/>
          <p:cNvSpPr txBox="1"/>
          <p:nvPr/>
        </p:nvSpPr>
        <p:spPr>
          <a:xfrm>
            <a:off x="6781800" y="3552825"/>
            <a:ext cx="5410200" cy="180975"/>
          </a:xfrm>
          <a:prstGeom prst="rect">
            <a:avLst/>
          </a:prstGeom>
          <a:noFill/>
        </p:spPr>
        <p:txBody>
          <a:bodyPr wrap="none" lIns="0" tIns="0" rIns="0" bIns="0" anchor="t">
            <a:spAutoFit/>
          </a:bodyPr>
          <a:lstStyle/>
          <a:p>
            <a:pPr algn="l"/>
            <a:r>
              <a:rPr sz="1125" b="1" i="0" u="none">
                <a:solidFill>
                  <a:srgbClr val="F59E0B"/>
                </a:solidFill>
                <a:latin typeface="Plus Jakarta Sans"/>
              </a:rPr>
              <a:t>Tự động hóa toàn diện điều phối với Apache Airflow.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1210</Words>
  <Application>Microsoft Office PowerPoint</Application>
  <PresentationFormat>Widescreen</PresentationFormat>
  <Paragraphs>172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Space Grotesk</vt:lpstr>
      <vt:lpstr>monospace</vt:lpstr>
      <vt:lpstr>Calibri</vt:lpstr>
      <vt:lpstr>Arial</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Quang Vu Van</cp:lastModifiedBy>
  <cp:revision>2</cp:revision>
  <dcterms:created xsi:type="dcterms:W3CDTF">2013-01-27T09:14:16Z</dcterms:created>
  <dcterms:modified xsi:type="dcterms:W3CDTF">2026-10-16T15:23:08Z</dcterms:modified>
  <cp:category/>
</cp:coreProperties>
</file>